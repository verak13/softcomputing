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26"/>
    <p:restoredTop sz="94671"/>
  </p:normalViewPr>
  <p:slideViewPr>
    <p:cSldViewPr snapToGrid="0" snapToObjects="1">
      <p:cViewPr varScale="1">
        <p:scale>
          <a:sx n="18" d="100"/>
          <a:sy n="18" d="100"/>
        </p:scale>
        <p:origin x="147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7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9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1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7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6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9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0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39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58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4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CB623-2514-A14A-8F05-68D8B4D38F91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D179E-6EE3-1641-84FC-9D439E2B4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8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8DC4A155-88C8-A545-8728-5094A7EAE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538062"/>
            <a:ext cx="98298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endParaRPr lang="en-US" altLang="en-US">
              <a:latin typeface="Arial" charset="0"/>
              <a:ea typeface="Arial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9862ABFD-A3E9-9242-A6E9-BC2B7E4A2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653" y="6700836"/>
            <a:ext cx="9829800" cy="69724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4600"/>
              </a:lnSpc>
              <a:spcAft>
                <a:spcPts val="1200"/>
              </a:spcAft>
            </a:pPr>
            <a:r>
              <a:rPr lang="en-US" sz="4800" b="1" noProof="1">
                <a:solidFill>
                  <a:schemeClr val="accent1">
                    <a:lumMod val="75000"/>
                  </a:schemeClr>
                </a:solidFill>
                <a:latin typeface="+mj-lt"/>
              </a:rPr>
              <a:t>Uvod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392AEE5-389C-EB4D-9EF4-5AC27A28C72C}"/>
              </a:ext>
            </a:extLst>
          </p:cNvPr>
          <p:cNvSpPr/>
          <p:nvPr/>
        </p:nvSpPr>
        <p:spPr>
          <a:xfrm>
            <a:off x="17658090" y="14939024"/>
            <a:ext cx="249237" cy="1147762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D59FFED-5233-B64A-AD25-7B851AF8B216}"/>
              </a:ext>
            </a:extLst>
          </p:cNvPr>
          <p:cNvSpPr/>
          <p:nvPr/>
        </p:nvSpPr>
        <p:spPr>
          <a:xfrm rot="10800000">
            <a:off x="19982190" y="14956486"/>
            <a:ext cx="249237" cy="1147763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TextBox 64">
            <a:extLst>
              <a:ext uri="{FF2B5EF4-FFF2-40B4-BE49-F238E27FC236}">
                <a16:creationId xmlns:a16="http://schemas.microsoft.com/office/drawing/2014/main" id="{82ECBBE0-F432-2C4E-B633-1A53ADB93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13677" y="15029511"/>
            <a:ext cx="2619375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  <a:latin typeface="Arial" charset="0"/>
                <a:ea typeface="Arial" charset="0"/>
              </a:rPr>
              <a:t>Figure A: neque dignissim, and in aliquet nisl et umis.</a:t>
            </a:r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3F66BEF7-85D8-3D49-BA9B-280860874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938" y="1550522"/>
            <a:ext cx="41224200" cy="315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43" tIns="45614" rIns="91243" bIns="45614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8800">
                <a:solidFill>
                  <a:srgbClr val="FFFFFF"/>
                </a:solidFill>
                <a:latin typeface="+mn-lt"/>
                <a:ea typeface="Arial" charset="0"/>
              </a:rPr>
              <a:t>ADEMIC RESEARCH POSTER TEMPLATE</a:t>
            </a:r>
          </a:p>
          <a:p>
            <a:pPr>
              <a:spcBef>
                <a:spcPts val="600"/>
              </a:spcBef>
              <a:spcAft>
                <a:spcPts val="1800"/>
              </a:spcAft>
              <a:defRPr/>
            </a:pPr>
            <a:r>
              <a:rPr lang="en-US" altLang="en-US" sz="4400">
                <a:solidFill>
                  <a:srgbClr val="FFFFFF"/>
                </a:solidFill>
                <a:latin typeface="+mn-lt"/>
                <a:ea typeface="Arial" charset="0"/>
              </a:rPr>
              <a:t>Subtitle for Academic Research Poster (48x36 inches)</a:t>
            </a:r>
          </a:p>
          <a:p>
            <a:pPr>
              <a:spcBef>
                <a:spcPts val="1800"/>
              </a:spcBef>
              <a:defRPr/>
            </a:pPr>
            <a:r>
              <a:rPr lang="en-US" altLang="en-US" sz="3200">
                <a:solidFill>
                  <a:srgbClr val="FFFFFF"/>
                </a:solidFill>
                <a:latin typeface="+mn-lt"/>
                <a:ea typeface="Arial" charset="0"/>
              </a:rPr>
              <a:t>Your names and the names of the people who contributed to this presentation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B752E7F-F26A-524D-86FF-2C7543BAB300}"/>
              </a:ext>
            </a:extLst>
          </p:cNvPr>
          <p:cNvSpPr/>
          <p:nvPr/>
        </p:nvSpPr>
        <p:spPr>
          <a:xfrm>
            <a:off x="0" y="-64048"/>
            <a:ext cx="43891200" cy="56945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600"/>
              <a:t> </a:t>
            </a:r>
          </a:p>
          <a:p>
            <a:r>
              <a:rPr lang="en-US" sz="96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9600" noProof="1">
                <a:solidFill>
                  <a:schemeClr val="accent1">
                    <a:lumMod val="75000"/>
                  </a:schemeClr>
                </a:solidFill>
              </a:rPr>
              <a:t>Prepoznavanje pesme na osnovu isečka u igri </a:t>
            </a:r>
            <a:r>
              <a:rPr lang="en-US" sz="9600">
                <a:solidFill>
                  <a:schemeClr val="accent1">
                    <a:lumMod val="75000"/>
                  </a:schemeClr>
                </a:solidFill>
              </a:rPr>
              <a:t>SongPop2</a:t>
            </a:r>
          </a:p>
          <a:p>
            <a:r>
              <a:rPr lang="en-US" sz="9600" b="1" noProof="1">
                <a:solidFill>
                  <a:srgbClr val="C00000"/>
                </a:solidFill>
              </a:rPr>
              <a:t> </a:t>
            </a:r>
            <a:r>
              <a:rPr lang="en-US" sz="6600" b="1" noProof="1">
                <a:solidFill>
                  <a:schemeClr val="tx1"/>
                </a:solidFill>
              </a:rPr>
              <a:t>Nikola Papić SW4/2017, Dušan Stojančević SW11/2017, Vera Kovačević SW19/2017</a:t>
            </a:r>
          </a:p>
          <a:p>
            <a:r>
              <a:rPr lang="en-US" sz="4800">
                <a:solidFill>
                  <a:schemeClr val="tx1"/>
                </a:solidFill>
              </a:rPr>
              <a:t>  </a:t>
            </a:r>
            <a:r>
              <a:rPr lang="en-US" sz="4800" noProof="1">
                <a:solidFill>
                  <a:schemeClr val="tx1"/>
                </a:solidFill>
              </a:rPr>
              <a:t>Univerzitet u Novom Sadu, Fakultet tehničkih nauka, Novi Sad</a:t>
            </a:r>
            <a:endParaRPr lang="en-US" sz="9600" noProof="1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B18E63E-E43D-8A46-905F-1FB45072A033}"/>
              </a:ext>
            </a:extLst>
          </p:cNvPr>
          <p:cNvSpPr/>
          <p:nvPr/>
        </p:nvSpPr>
        <p:spPr>
          <a:xfrm>
            <a:off x="0" y="5596128"/>
            <a:ext cx="43891200" cy="3727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59C8B05-96EB-834F-B7E4-A6ABE183F7C8}"/>
              </a:ext>
            </a:extLst>
          </p:cNvPr>
          <p:cNvSpPr txBox="1"/>
          <p:nvPr/>
        </p:nvSpPr>
        <p:spPr>
          <a:xfrm>
            <a:off x="13563502" y="13396283"/>
            <a:ext cx="55757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i="1"/>
              <a:t>Primer jedne partije u igri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1487" y="639776"/>
            <a:ext cx="3946182" cy="4357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7970" y="7735629"/>
            <a:ext cx="966265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/>
              <a:t>Cilj aplikacije je automatizovano prepoznavanje pesme u video igri </a:t>
            </a:r>
            <a:r>
              <a:rPr lang="en-US" sz="4400" i="1"/>
              <a:t>SongPop2</a:t>
            </a:r>
            <a:r>
              <a:rPr lang="en-US" sz="4400"/>
              <a:t>. Igra pušta isečak pesme 10 sekundi i za to vreme je potrebno odabrati jedan od 4 </a:t>
            </a:r>
            <a:r>
              <a:rPr lang="en-US" sz="4400">
                <a:latin typeface="+mj-lt"/>
              </a:rPr>
              <a:t>ponuđena</a:t>
            </a:r>
            <a:r>
              <a:rPr lang="en-US" sz="4400"/>
              <a:t> odgovora koji predstavljaju ili numeru ili izvođača. Aplikacija se sastoji iz tri dela: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/>
              <a:t>Automatsko upravljanje aplikacijom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/>
              <a:t>Prepoznavanje pesme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/>
              <a:t>Prepoznavanje ponuđenih odgovora</a:t>
            </a:r>
          </a:p>
        </p:txBody>
      </p:sp>
      <p:sp>
        <p:nvSpPr>
          <p:cNvPr id="37" name="TextBox 1">
            <a:extLst>
              <a:ext uri="{FF2B5EF4-FFF2-40B4-BE49-F238E27FC236}">
                <a16:creationId xmlns:a16="http://schemas.microsoft.com/office/drawing/2014/main" id="{8DC4A155-88C8-A545-8728-5094A7EAE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15" y="15396067"/>
            <a:ext cx="98298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endParaRPr lang="en-US" altLang="en-US">
              <a:latin typeface="Arial" charset="0"/>
              <a:ea typeface="Arial" charset="0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9862ABFD-A3E9-9242-A6E9-BC2B7E4A2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668" y="15558841"/>
            <a:ext cx="9829800" cy="69724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4600"/>
              </a:lnSpc>
              <a:spcAft>
                <a:spcPts val="1200"/>
              </a:spcAft>
            </a:pPr>
            <a:r>
              <a:rPr lang="en-US" sz="4800" b="1" noProof="1">
                <a:solidFill>
                  <a:schemeClr val="accent1">
                    <a:lumMod val="75000"/>
                  </a:schemeClr>
                </a:solidFill>
                <a:latin typeface="+mj-lt"/>
              </a:rPr>
              <a:t>Skup podataka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985" y="16593634"/>
            <a:ext cx="96626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/>
              <a:t>Kao skup podataka korištena je jedna od plejlista dostunih u igri (</a:t>
            </a:r>
            <a:r>
              <a:rPr lang="en-US" sz="4400" i="1"/>
              <a:t>Today’s Hits UK</a:t>
            </a:r>
            <a:r>
              <a:rPr lang="en-US" sz="4400"/>
              <a:t>). Generisani su isečci za većinu  pesama (118). Za prepoznavanje ponuđenih odgovora i automatsko upravljanje aplikacijom korištene su slike ekrana igre.</a:t>
            </a:r>
          </a:p>
        </p:txBody>
      </p:sp>
      <p:sp>
        <p:nvSpPr>
          <p:cNvPr id="40" name="TextBox 1">
            <a:extLst>
              <a:ext uri="{FF2B5EF4-FFF2-40B4-BE49-F238E27FC236}">
                <a16:creationId xmlns:a16="http://schemas.microsoft.com/office/drawing/2014/main" id="{8DC4A155-88C8-A545-8728-5094A7EAE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676" y="21450121"/>
            <a:ext cx="98298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endParaRPr lang="en-US" altLang="en-US">
              <a:latin typeface="Arial" charset="0"/>
              <a:ea typeface="Arial" charset="0"/>
            </a:endParaRPr>
          </a:p>
        </p:txBody>
      </p:sp>
      <p:sp>
        <p:nvSpPr>
          <p:cNvPr id="41" name="TextBox 3">
            <a:extLst>
              <a:ext uri="{FF2B5EF4-FFF2-40B4-BE49-F238E27FC236}">
                <a16:creationId xmlns:a16="http://schemas.microsoft.com/office/drawing/2014/main" id="{9862ABFD-A3E9-9242-A6E9-BC2B7E4A2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929" y="21725016"/>
            <a:ext cx="9829800" cy="69724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4600"/>
              </a:lnSpc>
              <a:spcAft>
                <a:spcPts val="1200"/>
              </a:spcAft>
            </a:pPr>
            <a:r>
              <a:rPr lang="en-US" sz="4800" b="1" noProof="1">
                <a:solidFill>
                  <a:schemeClr val="accent1">
                    <a:lumMod val="75000"/>
                  </a:schemeClr>
                </a:solidFill>
                <a:latin typeface="+mj-lt"/>
              </a:rPr>
              <a:t>Automatsko upravljanje aplikacijom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246" y="22759809"/>
            <a:ext cx="966265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/>
              <a:t>Na </a:t>
            </a:r>
            <a:r>
              <a:rPr lang="en-US" sz="4400" dirty="0" err="1"/>
              <a:t>ekranu</a:t>
            </a:r>
            <a:r>
              <a:rPr lang="en-US" sz="4400" dirty="0"/>
              <a:t> </a:t>
            </a:r>
            <a:r>
              <a:rPr lang="en-US" sz="4400" dirty="0" err="1"/>
              <a:t>igre</a:t>
            </a:r>
            <a:r>
              <a:rPr lang="en-US" sz="4400" dirty="0"/>
              <a:t> </a:t>
            </a:r>
            <a:r>
              <a:rPr lang="en-US" sz="4400" dirty="0" err="1"/>
              <a:t>prepoznaju</a:t>
            </a:r>
            <a:r>
              <a:rPr lang="en-US" sz="4400" dirty="0"/>
              <a:t> se </a:t>
            </a:r>
            <a:r>
              <a:rPr lang="en-US" sz="4400" dirty="0" err="1"/>
              <a:t>akcije</a:t>
            </a:r>
            <a:r>
              <a:rPr lang="en-US" sz="4400" dirty="0"/>
              <a:t> </a:t>
            </a:r>
            <a:r>
              <a:rPr lang="en-US" sz="4400" dirty="0" err="1"/>
              <a:t>na</a:t>
            </a:r>
            <a:r>
              <a:rPr lang="en-US" sz="4400" dirty="0"/>
              <a:t> </a:t>
            </a:r>
            <a:r>
              <a:rPr lang="en-US" sz="4400" dirty="0" err="1"/>
              <a:t>osnovu</a:t>
            </a:r>
            <a:r>
              <a:rPr lang="en-US" sz="4400" dirty="0"/>
              <a:t> </a:t>
            </a:r>
            <a:r>
              <a:rPr lang="en-US" sz="4400" dirty="0" err="1"/>
              <a:t>odgovarajućih</a:t>
            </a:r>
            <a:r>
              <a:rPr lang="en-US" sz="4400" dirty="0"/>
              <a:t> </a:t>
            </a:r>
            <a:r>
              <a:rPr lang="en-US" sz="4400" dirty="0" err="1"/>
              <a:t>sličica</a:t>
            </a:r>
            <a:r>
              <a:rPr lang="en-US" sz="4400" dirty="0"/>
              <a:t> (</a:t>
            </a:r>
            <a:r>
              <a:rPr lang="en-US" sz="4400" dirty="0" err="1"/>
              <a:t>npr</a:t>
            </a:r>
            <a:r>
              <a:rPr lang="en-US" sz="4400" dirty="0"/>
              <a:t>. </a:t>
            </a:r>
            <a:r>
              <a:rPr lang="en-US" sz="4400" dirty="0" err="1"/>
              <a:t>dugme</a:t>
            </a:r>
            <a:r>
              <a:rPr lang="en-US" sz="4400" dirty="0"/>
              <a:t> za </a:t>
            </a:r>
            <a:r>
              <a:rPr lang="en-US" sz="4400" dirty="0" err="1"/>
              <a:t>novu</a:t>
            </a:r>
            <a:r>
              <a:rPr lang="en-US" sz="4400" dirty="0"/>
              <a:t> </a:t>
            </a:r>
            <a:r>
              <a:rPr lang="en-US" sz="4400" dirty="0" err="1"/>
              <a:t>igru</a:t>
            </a:r>
            <a:r>
              <a:rPr lang="en-US" sz="4400" dirty="0"/>
              <a:t>). </a:t>
            </a:r>
            <a:r>
              <a:rPr lang="en-US" sz="4400" dirty="0" err="1"/>
              <a:t>Njihova</a:t>
            </a:r>
            <a:r>
              <a:rPr lang="en-US" sz="4400" dirty="0"/>
              <a:t> </a:t>
            </a:r>
            <a:r>
              <a:rPr lang="en-US" sz="4400" dirty="0" err="1"/>
              <a:t>lokacija</a:t>
            </a:r>
            <a:r>
              <a:rPr lang="en-US" sz="4400" dirty="0"/>
              <a:t> </a:t>
            </a:r>
            <a:r>
              <a:rPr lang="en-US" sz="4400" dirty="0" err="1"/>
              <a:t>na</a:t>
            </a:r>
            <a:r>
              <a:rPr lang="en-US" sz="4400" dirty="0"/>
              <a:t> </a:t>
            </a:r>
            <a:r>
              <a:rPr lang="en-US" sz="4400" dirty="0" err="1"/>
              <a:t>ekranu</a:t>
            </a:r>
            <a:r>
              <a:rPr lang="en-US" sz="4400" dirty="0"/>
              <a:t> se </a:t>
            </a:r>
            <a:r>
              <a:rPr lang="en-US" sz="4400" dirty="0" err="1"/>
              <a:t>detektuje</a:t>
            </a:r>
            <a:r>
              <a:rPr lang="en-US" sz="4400" dirty="0"/>
              <a:t> </a:t>
            </a:r>
            <a:r>
              <a:rPr lang="en-US" sz="4400" dirty="0" err="1"/>
              <a:t>metodom</a:t>
            </a:r>
            <a:r>
              <a:rPr lang="en-US" sz="4400" dirty="0"/>
              <a:t> “</a:t>
            </a:r>
            <a:r>
              <a:rPr lang="en-US" sz="4400" i="1" dirty="0" err="1"/>
              <a:t>matchTemplate</a:t>
            </a:r>
            <a:r>
              <a:rPr lang="en-US" sz="4400" dirty="0"/>
              <a:t>” </a:t>
            </a:r>
            <a:r>
              <a:rPr lang="en-US" sz="4400" dirty="0" err="1"/>
              <a:t>biblioteke</a:t>
            </a:r>
            <a:r>
              <a:rPr lang="en-US" sz="4400" dirty="0"/>
              <a:t> “</a:t>
            </a:r>
            <a:r>
              <a:rPr lang="en-US" sz="4400" i="1" dirty="0" err="1"/>
              <a:t>opencv</a:t>
            </a:r>
            <a:r>
              <a:rPr lang="en-US" sz="4400" dirty="0"/>
              <a:t>” </a:t>
            </a:r>
            <a:r>
              <a:rPr lang="en-US" sz="4400" dirty="0" err="1"/>
              <a:t>koja</a:t>
            </a:r>
            <a:r>
              <a:rPr lang="en-US" sz="4400" dirty="0"/>
              <a:t> </a:t>
            </a:r>
            <a:r>
              <a:rPr lang="en-US" sz="4400" dirty="0" err="1"/>
              <a:t>koristi</a:t>
            </a:r>
            <a:r>
              <a:rPr lang="en-US" sz="4400" dirty="0"/>
              <a:t> </a:t>
            </a:r>
            <a:r>
              <a:rPr lang="en-US" sz="4400" dirty="0" err="1"/>
              <a:t>konvoluciju</a:t>
            </a:r>
            <a:r>
              <a:rPr lang="en-US" sz="4400" dirty="0"/>
              <a:t>, a </a:t>
            </a:r>
            <a:r>
              <a:rPr lang="en-US" sz="4400" dirty="0" err="1"/>
              <a:t>samo</a:t>
            </a:r>
            <a:r>
              <a:rPr lang="en-US" sz="4400" dirty="0"/>
              <a:t> </a:t>
            </a:r>
            <a:r>
              <a:rPr lang="en-US" sz="4400" dirty="0" err="1"/>
              <a:t>upravljanje</a:t>
            </a:r>
            <a:r>
              <a:rPr lang="en-US" sz="4400" dirty="0"/>
              <a:t> </a:t>
            </a:r>
            <a:r>
              <a:rPr lang="en-US" sz="4400" dirty="0" err="1"/>
              <a:t>odrađeno</a:t>
            </a:r>
            <a:r>
              <a:rPr lang="en-US" sz="4400" dirty="0"/>
              <a:t> je </a:t>
            </a:r>
            <a:r>
              <a:rPr lang="en-US" sz="4400" dirty="0" err="1"/>
              <a:t>pomoću</a:t>
            </a:r>
            <a:r>
              <a:rPr lang="en-US" sz="4400" dirty="0"/>
              <a:t> </a:t>
            </a:r>
            <a:r>
              <a:rPr lang="en-US" sz="4400" dirty="0" err="1"/>
              <a:t>biblioteke</a:t>
            </a:r>
            <a:r>
              <a:rPr lang="en-US" sz="4400" dirty="0"/>
              <a:t> “</a:t>
            </a:r>
            <a:r>
              <a:rPr lang="en-US" sz="4400" i="1" dirty="0" err="1"/>
              <a:t>pyautogui</a:t>
            </a:r>
            <a:r>
              <a:rPr lang="en-US" sz="4400" dirty="0"/>
              <a:t>”.</a:t>
            </a:r>
            <a:r>
              <a:rPr lang="sr-Latn-RS" sz="4400" dirty="0"/>
              <a:t> Međutim da bi detektovali kada je </a:t>
            </a:r>
            <a:r>
              <a:rPr lang="sr-Latn-RS" sz="4400" dirty="0" err="1"/>
              <a:t>igrica</a:t>
            </a:r>
            <a:r>
              <a:rPr lang="sr-Latn-RS" sz="4400" dirty="0"/>
              <a:t> pustila pesmu korištena je </a:t>
            </a:r>
            <a:r>
              <a:rPr lang="sr-Latn-RS" sz="4400" dirty="0" err="1"/>
              <a:t>konvoluciona</a:t>
            </a:r>
            <a:r>
              <a:rPr lang="sr-Latn-RS" sz="4400"/>
              <a:t> mreža. </a:t>
            </a:r>
            <a:r>
              <a:rPr lang="sr-Latn-RS" sz="4400" dirty="0"/>
              <a:t>Mreža bi posmatrala grafičke elemente koji ukazuju na početak pesme i njen kraj.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1230" t="3036" r="8770" b="4689"/>
          <a:stretch/>
        </p:blipFill>
        <p:spPr>
          <a:xfrm>
            <a:off x="11658599" y="6967706"/>
            <a:ext cx="9648133" cy="6259800"/>
          </a:xfrm>
          <a:prstGeom prst="rect">
            <a:avLst/>
          </a:prstGeom>
        </p:spPr>
      </p:pic>
      <p:sp>
        <p:nvSpPr>
          <p:cNvPr id="47" name="TextBox 1">
            <a:extLst>
              <a:ext uri="{FF2B5EF4-FFF2-40B4-BE49-F238E27FC236}">
                <a16:creationId xmlns:a16="http://schemas.microsoft.com/office/drawing/2014/main" id="{8DC4A155-88C8-A545-8728-5094A7EAE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69570" y="14491348"/>
            <a:ext cx="98298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endParaRPr lang="en-US" altLang="en-US">
              <a:latin typeface="Arial" charset="0"/>
              <a:ea typeface="Arial" charset="0"/>
            </a:endParaRPr>
          </a:p>
        </p:txBody>
      </p:sp>
      <p:sp>
        <p:nvSpPr>
          <p:cNvPr id="48" name="TextBox 3">
            <a:extLst>
              <a:ext uri="{FF2B5EF4-FFF2-40B4-BE49-F238E27FC236}">
                <a16:creationId xmlns:a16="http://schemas.microsoft.com/office/drawing/2014/main" id="{9862ABFD-A3E9-9242-A6E9-BC2B7E4A2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5823" y="14766243"/>
            <a:ext cx="9829800" cy="69724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4600"/>
              </a:lnSpc>
              <a:spcAft>
                <a:spcPts val="1200"/>
              </a:spcAft>
            </a:pPr>
            <a:r>
              <a:rPr lang="en-US" sz="4800" b="1" noProof="1">
                <a:solidFill>
                  <a:schemeClr val="accent1">
                    <a:lumMod val="75000"/>
                  </a:schemeClr>
                </a:solidFill>
                <a:latin typeface="+mj-lt"/>
              </a:rPr>
              <a:t>Prepoznavanje pesme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53140" y="15801036"/>
            <a:ext cx="9662659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/>
              <a:t>Za prepoznavanje pesme korišten je </a:t>
            </a:r>
            <a:r>
              <a:rPr lang="en-US" sz="4400" i="1"/>
              <a:t>“An Industrial-Strength Audio Search Algorithm”</a:t>
            </a:r>
            <a:r>
              <a:rPr lang="en-US" sz="4400"/>
              <a:t>, koji je osnova za aplikaciju Shazam. Algoritam pravi “otisak” (</a:t>
            </a:r>
            <a:r>
              <a:rPr lang="en-US" sz="4400" i="1"/>
              <a:t>fingerprint</a:t>
            </a:r>
            <a:r>
              <a:rPr lang="en-US" sz="4400"/>
              <a:t>) audio fajla na osnovu spektrograma gde y-osa predstavlja frekvenciju, x-osa predstavlja vreme a boja predstavlja amplitudu (metoda </a:t>
            </a:r>
            <a:r>
              <a:rPr lang="en-US" sz="4400" i="1"/>
              <a:t>specgram</a:t>
            </a:r>
            <a:r>
              <a:rPr lang="en-US" sz="4400"/>
              <a:t> biblioteke </a:t>
            </a:r>
            <a:r>
              <a:rPr lang="en-US" sz="4400" i="1"/>
              <a:t>matplotlib.mlab</a:t>
            </a:r>
            <a:r>
              <a:rPr lang="en-US" sz="4400"/>
              <a:t>). Izdvajaju se najveće amplitude (</a:t>
            </a:r>
            <a:r>
              <a:rPr lang="en-US" sz="4400" i="1"/>
              <a:t>peaks</a:t>
            </a:r>
            <a:r>
              <a:rPr lang="en-US" sz="4400"/>
              <a:t>) za svaki frekvencijski interval. Na osnovu njih se formiraju heševi koji se čuvaju u bazi (</a:t>
            </a:r>
            <a:r>
              <a:rPr lang="en-US" sz="4400" i="1"/>
              <a:t>sqlite3</a:t>
            </a:r>
            <a:r>
              <a:rPr lang="en-US" sz="4400"/>
              <a:t>), zajedno sa identifikatorom pesme (naziv pesme i ime izvođača). 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629" y="25612542"/>
            <a:ext cx="9976479" cy="557214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1905" t="29843" r="39762" b="15714"/>
          <a:stretch/>
        </p:blipFill>
        <p:spPr>
          <a:xfrm>
            <a:off x="22306289" y="12764034"/>
            <a:ext cx="9775862" cy="780985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2264789" y="6932975"/>
            <a:ext cx="96626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 err="1"/>
              <a:t>Kada</a:t>
            </a:r>
            <a:r>
              <a:rPr lang="en-US" sz="4400" dirty="0"/>
              <a:t> program </a:t>
            </a:r>
            <a:r>
              <a:rPr lang="en-US" sz="4400" dirty="0" err="1"/>
              <a:t>detektuje</a:t>
            </a:r>
            <a:r>
              <a:rPr lang="en-US" sz="4400" dirty="0"/>
              <a:t> </a:t>
            </a:r>
            <a:r>
              <a:rPr lang="en-US" sz="4400" dirty="0" err="1"/>
              <a:t>početak</a:t>
            </a:r>
            <a:r>
              <a:rPr lang="en-US" sz="4400" dirty="0"/>
              <a:t> </a:t>
            </a:r>
            <a:r>
              <a:rPr lang="en-US" sz="4400" dirty="0" err="1"/>
              <a:t>isečka</a:t>
            </a:r>
            <a:r>
              <a:rPr lang="en-US" sz="4400" dirty="0"/>
              <a:t> </a:t>
            </a:r>
            <a:r>
              <a:rPr lang="en-US" sz="4400" dirty="0" err="1"/>
              <a:t>pesme</a:t>
            </a:r>
            <a:r>
              <a:rPr lang="en-US" sz="4400" dirty="0"/>
              <a:t> u </a:t>
            </a:r>
            <a:r>
              <a:rPr lang="en-US" sz="4400" dirty="0" err="1"/>
              <a:t>igri</a:t>
            </a:r>
            <a:r>
              <a:rPr lang="en-US" sz="4400" dirty="0"/>
              <a:t>, taj </a:t>
            </a:r>
            <a:r>
              <a:rPr lang="en-US" sz="4400" dirty="0" err="1"/>
              <a:t>isečak</a:t>
            </a:r>
            <a:r>
              <a:rPr lang="en-US" sz="4400" dirty="0"/>
              <a:t> se </a:t>
            </a:r>
            <a:r>
              <a:rPr lang="en-US" sz="4400" dirty="0" err="1"/>
              <a:t>snima</a:t>
            </a:r>
            <a:r>
              <a:rPr lang="en-US" sz="4400" dirty="0"/>
              <a:t> </a:t>
            </a:r>
            <a:r>
              <a:rPr lang="en-US" sz="4400" dirty="0" err="1"/>
              <a:t>i</a:t>
            </a:r>
            <a:r>
              <a:rPr lang="en-US" sz="4400" dirty="0"/>
              <a:t> </a:t>
            </a:r>
            <a:r>
              <a:rPr lang="en-US" sz="4400" dirty="0" err="1"/>
              <a:t>na</a:t>
            </a:r>
            <a:r>
              <a:rPr lang="en-US" sz="4400" dirty="0"/>
              <a:t> </a:t>
            </a:r>
            <a:r>
              <a:rPr lang="en-US" sz="4400" dirty="0" err="1"/>
              <a:t>osnovu</a:t>
            </a:r>
            <a:r>
              <a:rPr lang="en-US" sz="4400" dirty="0"/>
              <a:t> </a:t>
            </a:r>
            <a:r>
              <a:rPr lang="en-US" sz="4400" dirty="0" err="1"/>
              <a:t>njega</a:t>
            </a:r>
            <a:r>
              <a:rPr lang="en-US" sz="4400" dirty="0"/>
              <a:t> se </a:t>
            </a:r>
            <a:r>
              <a:rPr lang="en-US" sz="4400" dirty="0" err="1"/>
              <a:t>pravi</a:t>
            </a:r>
            <a:r>
              <a:rPr lang="en-US" sz="4400" dirty="0"/>
              <a:t> </a:t>
            </a:r>
            <a:r>
              <a:rPr lang="en-US" sz="4400" dirty="0" err="1"/>
              <a:t>novi</a:t>
            </a:r>
            <a:r>
              <a:rPr lang="en-US" sz="4400" dirty="0"/>
              <a:t> fingerprint. </a:t>
            </a:r>
            <a:r>
              <a:rPr lang="en-US" sz="4400" dirty="0" err="1"/>
              <a:t>Dobijeni</a:t>
            </a:r>
            <a:r>
              <a:rPr lang="en-US" sz="4400" dirty="0"/>
              <a:t> fingerprint se </a:t>
            </a:r>
            <a:r>
              <a:rPr lang="en-US" sz="4400" dirty="0" err="1"/>
              <a:t>poredi</a:t>
            </a:r>
            <a:r>
              <a:rPr lang="en-US" sz="4400" dirty="0"/>
              <a:t> </a:t>
            </a:r>
            <a:r>
              <a:rPr lang="en-US" sz="4400" dirty="0" err="1"/>
              <a:t>sa</a:t>
            </a:r>
            <a:r>
              <a:rPr lang="en-US" sz="4400" dirty="0"/>
              <a:t> </a:t>
            </a:r>
            <a:r>
              <a:rPr lang="en-US" sz="4400" dirty="0" err="1"/>
              <a:t>podacima</a:t>
            </a:r>
            <a:r>
              <a:rPr lang="en-US" sz="4400" dirty="0"/>
              <a:t> u </a:t>
            </a:r>
            <a:r>
              <a:rPr lang="en-US" sz="4400" dirty="0" err="1"/>
              <a:t>bazi</a:t>
            </a:r>
            <a:r>
              <a:rPr lang="en-US" sz="4400" dirty="0"/>
              <a:t>, </a:t>
            </a:r>
            <a:r>
              <a:rPr lang="en-US" sz="4400" dirty="0" err="1"/>
              <a:t>i</a:t>
            </a:r>
            <a:r>
              <a:rPr lang="en-US" sz="4400" dirty="0"/>
              <a:t> </a:t>
            </a:r>
            <a:r>
              <a:rPr lang="en-US" sz="4400" dirty="0" err="1"/>
              <a:t>kao</a:t>
            </a:r>
            <a:r>
              <a:rPr lang="en-US" sz="4400" dirty="0"/>
              <a:t> </a:t>
            </a:r>
            <a:r>
              <a:rPr lang="en-US" sz="4400" dirty="0" err="1"/>
              <a:t>rezultat</a:t>
            </a:r>
            <a:r>
              <a:rPr lang="en-US" sz="4400" dirty="0"/>
              <a:t> se </a:t>
            </a:r>
            <a:r>
              <a:rPr lang="en-US" sz="4400" dirty="0" err="1"/>
              <a:t>uzima</a:t>
            </a:r>
            <a:r>
              <a:rPr lang="en-US" sz="4400" dirty="0"/>
              <a:t> </a:t>
            </a:r>
            <a:r>
              <a:rPr lang="en-US" sz="4400" dirty="0" err="1"/>
              <a:t>pesma</a:t>
            </a:r>
            <a:r>
              <a:rPr lang="en-US" sz="4400" dirty="0"/>
              <a:t> </a:t>
            </a:r>
            <a:r>
              <a:rPr lang="en-US" sz="4400" dirty="0" err="1"/>
              <a:t>čiji</a:t>
            </a:r>
            <a:r>
              <a:rPr lang="en-US" sz="4400" dirty="0"/>
              <a:t> fingerprint </a:t>
            </a:r>
            <a:r>
              <a:rPr lang="en-US" sz="4400" dirty="0" err="1"/>
              <a:t>iz</a:t>
            </a:r>
            <a:r>
              <a:rPr lang="en-US" sz="4400" dirty="0"/>
              <a:t> </a:t>
            </a:r>
            <a:r>
              <a:rPr lang="en-US" sz="4400" dirty="0" err="1"/>
              <a:t>baze</a:t>
            </a:r>
            <a:r>
              <a:rPr lang="en-US" sz="4400" dirty="0"/>
              <a:t> se </a:t>
            </a:r>
            <a:r>
              <a:rPr lang="en-US" sz="4400" dirty="0" err="1"/>
              <a:t>najviše</a:t>
            </a:r>
            <a:r>
              <a:rPr lang="en-US" sz="4400" dirty="0"/>
              <a:t> </a:t>
            </a:r>
            <a:r>
              <a:rPr lang="en-US" sz="4400" dirty="0" err="1"/>
              <a:t>podudara</a:t>
            </a:r>
            <a:r>
              <a:rPr lang="en-US" sz="4400" dirty="0"/>
              <a:t> </a:t>
            </a:r>
            <a:r>
              <a:rPr lang="en-US" sz="4400" dirty="0" err="1"/>
              <a:t>sa</a:t>
            </a:r>
            <a:r>
              <a:rPr lang="en-US" sz="4400" dirty="0"/>
              <a:t> </a:t>
            </a:r>
            <a:r>
              <a:rPr lang="en-US" sz="4400" dirty="0" err="1"/>
              <a:t>novim</a:t>
            </a:r>
            <a:r>
              <a:rPr lang="en-US" sz="4400" dirty="0"/>
              <a:t> </a:t>
            </a:r>
            <a:r>
              <a:rPr lang="en-US" sz="4400" dirty="0" err="1"/>
              <a:t>fingerprintom</a:t>
            </a:r>
            <a:r>
              <a:rPr lang="en-US" sz="4400"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7034" y="31184689"/>
            <a:ext cx="46112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000" i="1"/>
              <a:t>Primer spektrograma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9862ABFD-A3E9-9242-A6E9-BC2B7E4A2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09380" y="22342314"/>
            <a:ext cx="9829800" cy="69724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4600"/>
              </a:lnSpc>
              <a:spcAft>
                <a:spcPts val="1200"/>
              </a:spcAft>
            </a:pPr>
            <a:r>
              <a:rPr lang="en-US" sz="4800" b="1" noProof="1">
                <a:solidFill>
                  <a:schemeClr val="accent1">
                    <a:lumMod val="75000"/>
                  </a:schemeClr>
                </a:solidFill>
                <a:latin typeface="+mj-lt"/>
              </a:rPr>
              <a:t>Prepoznavanje ponuđenih odgovora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180708" y="23349407"/>
            <a:ext cx="9662659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/>
              <a:t>Nakon što algoritam prepozna pesmu iz baze, potrebno je odrediti koje dugme na ekranu predtsavlja tu pesmu. Za čitanje teksta sa ekrana korištena je metoda  OCR (</a:t>
            </a:r>
            <a:r>
              <a:rPr lang="en-US" sz="4400" i="1"/>
              <a:t>Optical Character Recognition</a:t>
            </a:r>
            <a:r>
              <a:rPr lang="en-US" sz="4400"/>
              <a:t>).  </a:t>
            </a:r>
          </a:p>
          <a:p>
            <a:pPr algn="just"/>
            <a:r>
              <a:rPr lang="en-US" sz="4400"/>
              <a:t>Neuronska mreža je trenirana na osnovu znakova koji se pojavljuju u igri (slova, brojevi, neki specijalni znakovi). </a:t>
            </a:r>
          </a:p>
          <a:p>
            <a:pPr algn="just"/>
            <a:r>
              <a:rPr lang="en-US" sz="4400"/>
              <a:t>Prilikom prepoznavanja, za svaki od 4 ponuđena odgovora izdvajaju se konture i šalju se neuronskoj mreži koja prepoznaje karaktere. Od 4 dobijena rezultata bira se tekst koji je najsličniji nazivu ili imenu</a:t>
            </a:r>
          </a:p>
        </p:txBody>
      </p:sp>
      <p:sp>
        <p:nvSpPr>
          <p:cNvPr id="61" name="TextBox 3">
            <a:extLst>
              <a:ext uri="{FF2B5EF4-FFF2-40B4-BE49-F238E27FC236}">
                <a16:creationId xmlns:a16="http://schemas.microsoft.com/office/drawing/2014/main" id="{9862ABFD-A3E9-9242-A6E9-BC2B7E4A2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92451" y="13603117"/>
            <a:ext cx="9829800" cy="69724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4600"/>
              </a:lnSpc>
              <a:spcAft>
                <a:spcPts val="1200"/>
              </a:spcAft>
            </a:pPr>
            <a:r>
              <a:rPr lang="en-US" sz="4800" b="1" noProof="1">
                <a:solidFill>
                  <a:schemeClr val="accent1">
                    <a:lumMod val="75000"/>
                  </a:schemeClr>
                </a:solidFill>
                <a:latin typeface="+mj-lt"/>
              </a:rPr>
              <a:t>Rezultati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06979" y="14568820"/>
            <a:ext cx="966265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/>
              <a:t>Na </a:t>
            </a:r>
            <a:r>
              <a:rPr lang="en-US" sz="4400" dirty="0" err="1"/>
              <a:t>osnovu</a:t>
            </a:r>
            <a:r>
              <a:rPr lang="en-US" sz="4400" dirty="0"/>
              <a:t> 20 </a:t>
            </a:r>
            <a:r>
              <a:rPr lang="en-US" sz="4400" dirty="0" err="1"/>
              <a:t>odigranih</a:t>
            </a:r>
            <a:r>
              <a:rPr lang="en-US" sz="4400" dirty="0"/>
              <a:t> </a:t>
            </a:r>
            <a:r>
              <a:rPr lang="en-US" sz="4400" dirty="0" err="1"/>
              <a:t>partija</a:t>
            </a:r>
            <a:r>
              <a:rPr lang="en-US" sz="4400" dirty="0"/>
              <a:t> </a:t>
            </a:r>
            <a:r>
              <a:rPr lang="en-US" sz="4400" dirty="0" err="1"/>
              <a:t>sa</a:t>
            </a:r>
            <a:r>
              <a:rPr lang="en-US" sz="4400" dirty="0"/>
              <a:t> po 5 </a:t>
            </a:r>
            <a:r>
              <a:rPr lang="en-US" sz="4400" dirty="0" err="1"/>
              <a:t>pogađanja</a:t>
            </a:r>
            <a:r>
              <a:rPr lang="en-US" sz="4400" dirty="0"/>
              <a:t>, program je </a:t>
            </a:r>
            <a:r>
              <a:rPr lang="en-US" sz="4400" dirty="0" err="1"/>
              <a:t>prosečno</a:t>
            </a:r>
            <a:r>
              <a:rPr lang="en-US" sz="4400" dirty="0"/>
              <a:t> </a:t>
            </a:r>
            <a:r>
              <a:rPr lang="en-US" sz="4400" dirty="0" err="1"/>
              <a:t>prepoznavao</a:t>
            </a:r>
            <a:r>
              <a:rPr lang="en-US" sz="4400" dirty="0"/>
              <a:t> 4 od 5 </a:t>
            </a:r>
            <a:r>
              <a:rPr lang="en-US" sz="4400" dirty="0" err="1"/>
              <a:t>pesama</a:t>
            </a:r>
            <a:r>
              <a:rPr lang="en-US" sz="4400" dirty="0"/>
              <a:t>, pa </a:t>
            </a:r>
            <a:r>
              <a:rPr lang="en-US" sz="4400" dirty="0" err="1"/>
              <a:t>možemo</a:t>
            </a:r>
            <a:r>
              <a:rPr lang="en-US" sz="4400" dirty="0"/>
              <a:t> </a:t>
            </a:r>
            <a:r>
              <a:rPr lang="en-US" sz="4400" dirty="0" err="1"/>
              <a:t>zaključiti</a:t>
            </a:r>
            <a:r>
              <a:rPr lang="en-US" sz="4400" dirty="0"/>
              <a:t> da je  </a:t>
            </a:r>
            <a:r>
              <a:rPr lang="en-US" sz="4400" dirty="0" err="1"/>
              <a:t>preciznost</a:t>
            </a:r>
            <a:r>
              <a:rPr lang="en-US" sz="4400" dirty="0"/>
              <a:t> (</a:t>
            </a:r>
            <a:r>
              <a:rPr lang="en-US" sz="4400" i="1" dirty="0"/>
              <a:t>accuracy</a:t>
            </a:r>
            <a:r>
              <a:rPr lang="en-US" sz="4400" dirty="0"/>
              <a:t>) 80%.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5785" y="9222388"/>
            <a:ext cx="8993577" cy="8310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5785" y="10053478"/>
            <a:ext cx="8993577" cy="6444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5785" y="10851262"/>
            <a:ext cx="8966269" cy="89331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159C8B05-96EB-834F-B7E4-A6ABE183F7C8}"/>
              </a:ext>
            </a:extLst>
          </p:cNvPr>
          <p:cNvSpPr txBox="1"/>
          <p:nvPr/>
        </p:nvSpPr>
        <p:spPr>
          <a:xfrm>
            <a:off x="33447389" y="11840253"/>
            <a:ext cx="90344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i="1"/>
              <a:t>Karakteri za treniranje neuronske mreže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092451" y="6830269"/>
            <a:ext cx="966265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/>
              <a:t>izvođača prepoznate pesme, program odabira taj odgovor i nastavlja dalje sa igrom.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021815" y="20787157"/>
            <a:ext cx="61486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000" i="1"/>
              <a:t>Postupak popunjavanja baze</a:t>
            </a:r>
          </a:p>
        </p:txBody>
      </p:sp>
      <p:sp>
        <p:nvSpPr>
          <p:cNvPr id="72" name="TextBox 3">
            <a:extLst>
              <a:ext uri="{FF2B5EF4-FFF2-40B4-BE49-F238E27FC236}">
                <a16:creationId xmlns:a16="http://schemas.microsoft.com/office/drawing/2014/main" id="{9862ABFD-A3E9-9242-A6E9-BC2B7E4A2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6979" y="19134304"/>
            <a:ext cx="9829800" cy="69724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4600"/>
              </a:lnSpc>
              <a:spcAft>
                <a:spcPts val="1200"/>
              </a:spcAft>
            </a:pPr>
            <a:r>
              <a:rPr lang="en-US" sz="4800" b="1" noProof="1">
                <a:solidFill>
                  <a:schemeClr val="accent1">
                    <a:lumMod val="75000"/>
                  </a:schemeClr>
                </a:solidFill>
                <a:latin typeface="+mj-lt"/>
              </a:rPr>
              <a:t>Zaključak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121507" y="20100007"/>
            <a:ext cx="966265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/>
              <a:t>Program radi prilično dobro za većinu slučajeva, odnosno za slučajeve kada tražena pesma postoji u bazi. Mogao bi se unaprediti proširivanjem baze novim pesmama koje se pojavljuju u igri (npr. ukoliko ne prepozna pesmu, da se nova pesma doda u bazu). Takođe, tačnost bi se mogla povećati dužim snimanjem, ali bi se program tada igrao sporije i dobijao bi manje poena u igri. </a:t>
            </a:r>
          </a:p>
        </p:txBody>
      </p:sp>
    </p:spTree>
    <p:extLst>
      <p:ext uri="{BB962C8B-B14F-4D97-AF65-F5344CB8AC3E}">
        <p14:creationId xmlns:p14="http://schemas.microsoft.com/office/powerpoint/2010/main" val="239334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</TotalTime>
  <Words>606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Lisa Davis</dc:creator>
  <cp:lastModifiedBy>nikola papic</cp:lastModifiedBy>
  <cp:revision>82</cp:revision>
  <dcterms:created xsi:type="dcterms:W3CDTF">2019-03-25T17:38:57Z</dcterms:created>
  <dcterms:modified xsi:type="dcterms:W3CDTF">2021-02-14T15:40:37Z</dcterms:modified>
</cp:coreProperties>
</file>