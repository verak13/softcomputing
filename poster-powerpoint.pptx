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1pPr>
    <a:lvl2pPr marL="184343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4pPr>
    <a:lvl5pPr marL="737372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6pPr>
    <a:lvl7pPr marL="1106058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226"/>
    <p:restoredTop sz="94671"/>
  </p:normalViewPr>
  <p:slideViewPr>
    <p:cSldViewPr snapToGrid="0" snapToObjects="1">
      <p:cViewPr varScale="1">
        <p:scale>
          <a:sx n="18" d="100"/>
          <a:sy n="18" d="100"/>
        </p:scale>
        <p:origin x="1474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670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391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91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270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462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895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203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839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58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344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860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CB623-2514-A14A-8F05-68D8B4D38F91}" type="datetimeFigureOut">
              <a:rPr lang="en-US" smtClean="0"/>
              <a:t>2/14/2021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CD179E-6EE3-1641-84FC-9D439E2B4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181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8DC4A155-88C8-A545-8728-5094A7EAE9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6538062"/>
            <a:ext cx="9829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endParaRPr lang="en-US" altLang="en-US">
              <a:latin typeface="Arial" charset="0"/>
              <a:ea typeface="Arial" charset="0"/>
            </a:endParaRP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0653" y="6700836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Uvod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392AEE5-389C-EB4D-9EF4-5AC27A28C72C}"/>
              </a:ext>
            </a:extLst>
          </p:cNvPr>
          <p:cNvSpPr/>
          <p:nvPr/>
        </p:nvSpPr>
        <p:spPr>
          <a:xfrm>
            <a:off x="17658090" y="14939024"/>
            <a:ext cx="249237" cy="1147762"/>
          </a:xfrm>
          <a:custGeom>
            <a:avLst/>
            <a:gdLst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72768 h 1645920"/>
              <a:gd name="connsiteX5" fmla="*/ 65837 w 376733"/>
              <a:gd name="connsiteY5" fmla="*/ 1572768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72768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94713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87397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91055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71154 w 376733"/>
              <a:gd name="connsiteY5" fmla="*/ 1564474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87365"/>
              <a:gd name="connsiteY0" fmla="*/ 0 h 1645920"/>
              <a:gd name="connsiteX1" fmla="*/ 0 w 387365"/>
              <a:gd name="connsiteY1" fmla="*/ 0 h 1645920"/>
              <a:gd name="connsiteX2" fmla="*/ 0 w 387365"/>
              <a:gd name="connsiteY2" fmla="*/ 1645920 h 1645920"/>
              <a:gd name="connsiteX3" fmla="*/ 376733 w 387365"/>
              <a:gd name="connsiteY3" fmla="*/ 1645920 h 1645920"/>
              <a:gd name="connsiteX4" fmla="*/ 387365 w 387365"/>
              <a:gd name="connsiteY4" fmla="*/ 1564475 h 1645920"/>
              <a:gd name="connsiteX5" fmla="*/ 71154 w 387365"/>
              <a:gd name="connsiteY5" fmla="*/ 1564474 h 1645920"/>
              <a:gd name="connsiteX6" fmla="*/ 65837 w 387365"/>
              <a:gd name="connsiteY6" fmla="*/ 58521 h 1645920"/>
              <a:gd name="connsiteX7" fmla="*/ 336499 w 387365"/>
              <a:gd name="connsiteY7" fmla="*/ 58521 h 1645920"/>
              <a:gd name="connsiteX8" fmla="*/ 336499 w 387365"/>
              <a:gd name="connsiteY8" fmla="*/ 0 h 1645920"/>
              <a:gd name="connsiteX0" fmla="*/ 336499 w 405611"/>
              <a:gd name="connsiteY0" fmla="*/ 0 h 1645920"/>
              <a:gd name="connsiteX1" fmla="*/ 0 w 405611"/>
              <a:gd name="connsiteY1" fmla="*/ 0 h 1645920"/>
              <a:gd name="connsiteX2" fmla="*/ 0 w 405611"/>
              <a:gd name="connsiteY2" fmla="*/ 1645920 h 1645920"/>
              <a:gd name="connsiteX3" fmla="*/ 376733 w 405611"/>
              <a:gd name="connsiteY3" fmla="*/ 1645920 h 1645920"/>
              <a:gd name="connsiteX4" fmla="*/ 387365 w 405611"/>
              <a:gd name="connsiteY4" fmla="*/ 1564475 h 1645920"/>
              <a:gd name="connsiteX5" fmla="*/ 71154 w 405611"/>
              <a:gd name="connsiteY5" fmla="*/ 1564474 h 1645920"/>
              <a:gd name="connsiteX6" fmla="*/ 65837 w 405611"/>
              <a:gd name="connsiteY6" fmla="*/ 58521 h 1645920"/>
              <a:gd name="connsiteX7" fmla="*/ 405611 w 405611"/>
              <a:gd name="connsiteY7" fmla="*/ 63838 h 1645920"/>
              <a:gd name="connsiteX8" fmla="*/ 336499 w 405611"/>
              <a:gd name="connsiteY8" fmla="*/ 0 h 1645920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76733 w 405611"/>
              <a:gd name="connsiteY3" fmla="*/ 1651236 h 1651236"/>
              <a:gd name="connsiteX4" fmla="*/ 387365 w 405611"/>
              <a:gd name="connsiteY4" fmla="*/ 1569791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403314 w 405611"/>
              <a:gd name="connsiteY3" fmla="*/ 1651236 h 1651236"/>
              <a:gd name="connsiteX4" fmla="*/ 387365 w 405611"/>
              <a:gd name="connsiteY4" fmla="*/ 1569791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87365 w 405611"/>
              <a:gd name="connsiteY4" fmla="*/ 1569791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71490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9371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9371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9371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8736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44886"/>
              <a:gd name="connsiteX1" fmla="*/ 0 w 405611"/>
              <a:gd name="connsiteY1" fmla="*/ 5316 h 1644886"/>
              <a:gd name="connsiteX2" fmla="*/ 0 w 405611"/>
              <a:gd name="connsiteY2" fmla="*/ 1644886 h 1644886"/>
              <a:gd name="connsiteX3" fmla="*/ 387439 w 405611"/>
              <a:gd name="connsiteY3" fmla="*/ 1644886 h 1644886"/>
              <a:gd name="connsiteX4" fmla="*/ 387365 w 405611"/>
              <a:gd name="connsiteY4" fmla="*/ 1566616 h 1644886"/>
              <a:gd name="connsiteX5" fmla="*/ 71154 w 405611"/>
              <a:gd name="connsiteY5" fmla="*/ 1569790 h 1644886"/>
              <a:gd name="connsiteX6" fmla="*/ 65837 w 405611"/>
              <a:gd name="connsiteY6" fmla="*/ 63837 h 1644886"/>
              <a:gd name="connsiteX7" fmla="*/ 405611 w 405611"/>
              <a:gd name="connsiteY7" fmla="*/ 69154 h 1644886"/>
              <a:gd name="connsiteX8" fmla="*/ 400294 w 405611"/>
              <a:gd name="connsiteY8" fmla="*/ 0 h 1644886"/>
              <a:gd name="connsiteX0" fmla="*/ 400294 w 400294"/>
              <a:gd name="connsiteY0" fmla="*/ 0 h 1644886"/>
              <a:gd name="connsiteX1" fmla="*/ 0 w 400294"/>
              <a:gd name="connsiteY1" fmla="*/ 5316 h 1644886"/>
              <a:gd name="connsiteX2" fmla="*/ 0 w 400294"/>
              <a:gd name="connsiteY2" fmla="*/ 1644886 h 1644886"/>
              <a:gd name="connsiteX3" fmla="*/ 387439 w 400294"/>
              <a:gd name="connsiteY3" fmla="*/ 1644886 h 1644886"/>
              <a:gd name="connsiteX4" fmla="*/ 387365 w 400294"/>
              <a:gd name="connsiteY4" fmla="*/ 1566616 h 1644886"/>
              <a:gd name="connsiteX5" fmla="*/ 71154 w 400294"/>
              <a:gd name="connsiteY5" fmla="*/ 1569790 h 1644886"/>
              <a:gd name="connsiteX6" fmla="*/ 65837 w 400294"/>
              <a:gd name="connsiteY6" fmla="*/ 63837 h 1644886"/>
              <a:gd name="connsiteX7" fmla="*/ 386561 w 400294"/>
              <a:gd name="connsiteY7" fmla="*/ 78679 h 1644886"/>
              <a:gd name="connsiteX8" fmla="*/ 400294 w 400294"/>
              <a:gd name="connsiteY8" fmla="*/ 0 h 1644886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60662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414236"/>
              <a:gd name="connsiteY0" fmla="*/ 0 h 1641711"/>
              <a:gd name="connsiteX1" fmla="*/ 0 w 414236"/>
              <a:gd name="connsiteY1" fmla="*/ 2141 h 1641711"/>
              <a:gd name="connsiteX2" fmla="*/ 0 w 414236"/>
              <a:gd name="connsiteY2" fmla="*/ 1641711 h 1641711"/>
              <a:gd name="connsiteX3" fmla="*/ 387439 w 414236"/>
              <a:gd name="connsiteY3" fmla="*/ 1641711 h 1641711"/>
              <a:gd name="connsiteX4" fmla="*/ 379172 w 414236"/>
              <a:gd name="connsiteY4" fmla="*/ 1600163 h 1641711"/>
              <a:gd name="connsiteX5" fmla="*/ 387365 w 414236"/>
              <a:gd name="connsiteY5" fmla="*/ 1563441 h 1641711"/>
              <a:gd name="connsiteX6" fmla="*/ 71154 w 414236"/>
              <a:gd name="connsiteY6" fmla="*/ 1566615 h 1641711"/>
              <a:gd name="connsiteX7" fmla="*/ 65837 w 414236"/>
              <a:gd name="connsiteY7" fmla="*/ 76537 h 1641711"/>
              <a:gd name="connsiteX8" fmla="*/ 386561 w 414236"/>
              <a:gd name="connsiteY8" fmla="*/ 75504 h 1641711"/>
              <a:gd name="connsiteX9" fmla="*/ 384419 w 414236"/>
              <a:gd name="connsiteY9" fmla="*/ 0 h 1641711"/>
              <a:gd name="connsiteX0" fmla="*/ 384419 w 431494"/>
              <a:gd name="connsiteY0" fmla="*/ 0 h 1641711"/>
              <a:gd name="connsiteX1" fmla="*/ 0 w 431494"/>
              <a:gd name="connsiteY1" fmla="*/ 2141 h 1641711"/>
              <a:gd name="connsiteX2" fmla="*/ 0 w 431494"/>
              <a:gd name="connsiteY2" fmla="*/ 1641711 h 1641711"/>
              <a:gd name="connsiteX3" fmla="*/ 387439 w 431494"/>
              <a:gd name="connsiteY3" fmla="*/ 1641711 h 1641711"/>
              <a:gd name="connsiteX4" fmla="*/ 387365 w 431494"/>
              <a:gd name="connsiteY4" fmla="*/ 1563441 h 1641711"/>
              <a:gd name="connsiteX5" fmla="*/ 71154 w 431494"/>
              <a:gd name="connsiteY5" fmla="*/ 1566615 h 1641711"/>
              <a:gd name="connsiteX6" fmla="*/ 65837 w 431494"/>
              <a:gd name="connsiteY6" fmla="*/ 76537 h 1641711"/>
              <a:gd name="connsiteX7" fmla="*/ 386561 w 431494"/>
              <a:gd name="connsiteY7" fmla="*/ 75504 h 1641711"/>
              <a:gd name="connsiteX8" fmla="*/ 384419 w 431494"/>
              <a:gd name="connsiteY8" fmla="*/ 0 h 1641711"/>
              <a:gd name="connsiteX0" fmla="*/ 384419 w 409039"/>
              <a:gd name="connsiteY0" fmla="*/ 0 h 1642067"/>
              <a:gd name="connsiteX1" fmla="*/ 0 w 409039"/>
              <a:gd name="connsiteY1" fmla="*/ 2141 h 1642067"/>
              <a:gd name="connsiteX2" fmla="*/ 0 w 409039"/>
              <a:gd name="connsiteY2" fmla="*/ 1641711 h 1642067"/>
              <a:gd name="connsiteX3" fmla="*/ 387439 w 409039"/>
              <a:gd name="connsiteY3" fmla="*/ 1641711 h 1642067"/>
              <a:gd name="connsiteX4" fmla="*/ 387365 w 409039"/>
              <a:gd name="connsiteY4" fmla="*/ 1563441 h 1642067"/>
              <a:gd name="connsiteX5" fmla="*/ 71154 w 409039"/>
              <a:gd name="connsiteY5" fmla="*/ 1566615 h 1642067"/>
              <a:gd name="connsiteX6" fmla="*/ 65837 w 409039"/>
              <a:gd name="connsiteY6" fmla="*/ 76537 h 1642067"/>
              <a:gd name="connsiteX7" fmla="*/ 386561 w 409039"/>
              <a:gd name="connsiteY7" fmla="*/ 75504 h 1642067"/>
              <a:gd name="connsiteX8" fmla="*/ 384419 w 409039"/>
              <a:gd name="connsiteY8" fmla="*/ 0 h 1642067"/>
              <a:gd name="connsiteX0" fmla="*/ 384419 w 410804"/>
              <a:gd name="connsiteY0" fmla="*/ 0 h 1641711"/>
              <a:gd name="connsiteX1" fmla="*/ 0 w 410804"/>
              <a:gd name="connsiteY1" fmla="*/ 2141 h 1641711"/>
              <a:gd name="connsiteX2" fmla="*/ 0 w 410804"/>
              <a:gd name="connsiteY2" fmla="*/ 1641711 h 1641711"/>
              <a:gd name="connsiteX3" fmla="*/ 387439 w 410804"/>
              <a:gd name="connsiteY3" fmla="*/ 1641711 h 1641711"/>
              <a:gd name="connsiteX4" fmla="*/ 387365 w 410804"/>
              <a:gd name="connsiteY4" fmla="*/ 1563441 h 1641711"/>
              <a:gd name="connsiteX5" fmla="*/ 71154 w 410804"/>
              <a:gd name="connsiteY5" fmla="*/ 1566615 h 1641711"/>
              <a:gd name="connsiteX6" fmla="*/ 65837 w 410804"/>
              <a:gd name="connsiteY6" fmla="*/ 76537 h 1641711"/>
              <a:gd name="connsiteX7" fmla="*/ 386561 w 410804"/>
              <a:gd name="connsiteY7" fmla="*/ 75504 h 1641711"/>
              <a:gd name="connsiteX8" fmla="*/ 384419 w 410804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400294 w 400294"/>
              <a:gd name="connsiteY0" fmla="*/ 0 h 1644886"/>
              <a:gd name="connsiteX1" fmla="*/ 0 w 400294"/>
              <a:gd name="connsiteY1" fmla="*/ 5316 h 1644886"/>
              <a:gd name="connsiteX2" fmla="*/ 0 w 400294"/>
              <a:gd name="connsiteY2" fmla="*/ 1644886 h 1644886"/>
              <a:gd name="connsiteX3" fmla="*/ 387439 w 400294"/>
              <a:gd name="connsiteY3" fmla="*/ 1644886 h 1644886"/>
              <a:gd name="connsiteX4" fmla="*/ 387365 w 400294"/>
              <a:gd name="connsiteY4" fmla="*/ 1566616 h 1644886"/>
              <a:gd name="connsiteX5" fmla="*/ 71154 w 400294"/>
              <a:gd name="connsiteY5" fmla="*/ 1569790 h 1644886"/>
              <a:gd name="connsiteX6" fmla="*/ 65837 w 400294"/>
              <a:gd name="connsiteY6" fmla="*/ 79712 h 1644886"/>
              <a:gd name="connsiteX7" fmla="*/ 386561 w 400294"/>
              <a:gd name="connsiteY7" fmla="*/ 78679 h 1644886"/>
              <a:gd name="connsiteX8" fmla="*/ 400294 w 400294"/>
              <a:gd name="connsiteY8" fmla="*/ 0 h 1644886"/>
              <a:gd name="connsiteX0" fmla="*/ 37806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7806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7439" h="1641711">
                <a:moveTo>
                  <a:pt x="384419" y="0"/>
                </a:moveTo>
                <a:lnTo>
                  <a:pt x="0" y="2141"/>
                </a:lnTo>
                <a:lnTo>
                  <a:pt x="0" y="1641711"/>
                </a:lnTo>
                <a:lnTo>
                  <a:pt x="387439" y="1641711"/>
                </a:lnTo>
                <a:cubicBezTo>
                  <a:pt x="387414" y="1615621"/>
                  <a:pt x="387390" y="1589531"/>
                  <a:pt x="387365" y="1563441"/>
                </a:cubicBezTo>
                <a:lnTo>
                  <a:pt x="71154" y="1566615"/>
                </a:lnTo>
                <a:cubicBezTo>
                  <a:pt x="68495" y="821576"/>
                  <a:pt x="68495" y="821576"/>
                  <a:pt x="65837" y="76537"/>
                </a:cubicBezTo>
                <a:lnTo>
                  <a:pt x="386561" y="75504"/>
                </a:lnTo>
                <a:lnTo>
                  <a:pt x="384419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D59FFED-5233-B64A-AD25-7B851AF8B216}"/>
              </a:ext>
            </a:extLst>
          </p:cNvPr>
          <p:cNvSpPr/>
          <p:nvPr/>
        </p:nvSpPr>
        <p:spPr>
          <a:xfrm rot="10800000">
            <a:off x="19982190" y="14956486"/>
            <a:ext cx="249237" cy="1147763"/>
          </a:xfrm>
          <a:custGeom>
            <a:avLst/>
            <a:gdLst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72768 h 1645920"/>
              <a:gd name="connsiteX5" fmla="*/ 65837 w 376733"/>
              <a:gd name="connsiteY5" fmla="*/ 1572768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72768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94713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87397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65837 w 376733"/>
              <a:gd name="connsiteY5" fmla="*/ 1591055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76733"/>
              <a:gd name="connsiteY0" fmla="*/ 0 h 1645920"/>
              <a:gd name="connsiteX1" fmla="*/ 0 w 376733"/>
              <a:gd name="connsiteY1" fmla="*/ 0 h 1645920"/>
              <a:gd name="connsiteX2" fmla="*/ 0 w 376733"/>
              <a:gd name="connsiteY2" fmla="*/ 1645920 h 1645920"/>
              <a:gd name="connsiteX3" fmla="*/ 376733 w 376733"/>
              <a:gd name="connsiteY3" fmla="*/ 1645920 h 1645920"/>
              <a:gd name="connsiteX4" fmla="*/ 376733 w 376733"/>
              <a:gd name="connsiteY4" fmla="*/ 1591056 h 1645920"/>
              <a:gd name="connsiteX5" fmla="*/ 71154 w 376733"/>
              <a:gd name="connsiteY5" fmla="*/ 1564474 h 1645920"/>
              <a:gd name="connsiteX6" fmla="*/ 65837 w 376733"/>
              <a:gd name="connsiteY6" fmla="*/ 58521 h 1645920"/>
              <a:gd name="connsiteX7" fmla="*/ 336499 w 376733"/>
              <a:gd name="connsiteY7" fmla="*/ 58521 h 1645920"/>
              <a:gd name="connsiteX8" fmla="*/ 336499 w 376733"/>
              <a:gd name="connsiteY8" fmla="*/ 0 h 1645920"/>
              <a:gd name="connsiteX0" fmla="*/ 336499 w 387365"/>
              <a:gd name="connsiteY0" fmla="*/ 0 h 1645920"/>
              <a:gd name="connsiteX1" fmla="*/ 0 w 387365"/>
              <a:gd name="connsiteY1" fmla="*/ 0 h 1645920"/>
              <a:gd name="connsiteX2" fmla="*/ 0 w 387365"/>
              <a:gd name="connsiteY2" fmla="*/ 1645920 h 1645920"/>
              <a:gd name="connsiteX3" fmla="*/ 376733 w 387365"/>
              <a:gd name="connsiteY3" fmla="*/ 1645920 h 1645920"/>
              <a:gd name="connsiteX4" fmla="*/ 387365 w 387365"/>
              <a:gd name="connsiteY4" fmla="*/ 1564475 h 1645920"/>
              <a:gd name="connsiteX5" fmla="*/ 71154 w 387365"/>
              <a:gd name="connsiteY5" fmla="*/ 1564474 h 1645920"/>
              <a:gd name="connsiteX6" fmla="*/ 65837 w 387365"/>
              <a:gd name="connsiteY6" fmla="*/ 58521 h 1645920"/>
              <a:gd name="connsiteX7" fmla="*/ 336499 w 387365"/>
              <a:gd name="connsiteY7" fmla="*/ 58521 h 1645920"/>
              <a:gd name="connsiteX8" fmla="*/ 336499 w 387365"/>
              <a:gd name="connsiteY8" fmla="*/ 0 h 1645920"/>
              <a:gd name="connsiteX0" fmla="*/ 336499 w 405611"/>
              <a:gd name="connsiteY0" fmla="*/ 0 h 1645920"/>
              <a:gd name="connsiteX1" fmla="*/ 0 w 405611"/>
              <a:gd name="connsiteY1" fmla="*/ 0 h 1645920"/>
              <a:gd name="connsiteX2" fmla="*/ 0 w 405611"/>
              <a:gd name="connsiteY2" fmla="*/ 1645920 h 1645920"/>
              <a:gd name="connsiteX3" fmla="*/ 376733 w 405611"/>
              <a:gd name="connsiteY3" fmla="*/ 1645920 h 1645920"/>
              <a:gd name="connsiteX4" fmla="*/ 387365 w 405611"/>
              <a:gd name="connsiteY4" fmla="*/ 1564475 h 1645920"/>
              <a:gd name="connsiteX5" fmla="*/ 71154 w 405611"/>
              <a:gd name="connsiteY5" fmla="*/ 1564474 h 1645920"/>
              <a:gd name="connsiteX6" fmla="*/ 65837 w 405611"/>
              <a:gd name="connsiteY6" fmla="*/ 58521 h 1645920"/>
              <a:gd name="connsiteX7" fmla="*/ 405611 w 405611"/>
              <a:gd name="connsiteY7" fmla="*/ 63838 h 1645920"/>
              <a:gd name="connsiteX8" fmla="*/ 336499 w 405611"/>
              <a:gd name="connsiteY8" fmla="*/ 0 h 1645920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76733 w 405611"/>
              <a:gd name="connsiteY3" fmla="*/ 1651236 h 1651236"/>
              <a:gd name="connsiteX4" fmla="*/ 387365 w 405611"/>
              <a:gd name="connsiteY4" fmla="*/ 1569791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403314 w 405611"/>
              <a:gd name="connsiteY3" fmla="*/ 1651236 h 1651236"/>
              <a:gd name="connsiteX4" fmla="*/ 387365 w 405611"/>
              <a:gd name="connsiteY4" fmla="*/ 1569791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87365 w 405611"/>
              <a:gd name="connsiteY4" fmla="*/ 1569791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71490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9371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9371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9371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51236"/>
              <a:gd name="connsiteX1" fmla="*/ 0 w 405611"/>
              <a:gd name="connsiteY1" fmla="*/ 5316 h 1651236"/>
              <a:gd name="connsiteX2" fmla="*/ 0 w 405611"/>
              <a:gd name="connsiteY2" fmla="*/ 1651236 h 1651236"/>
              <a:gd name="connsiteX3" fmla="*/ 387439 w 405611"/>
              <a:gd name="connsiteY3" fmla="*/ 1644886 h 1651236"/>
              <a:gd name="connsiteX4" fmla="*/ 387365 w 405611"/>
              <a:gd name="connsiteY4" fmla="*/ 1566616 h 1651236"/>
              <a:gd name="connsiteX5" fmla="*/ 71154 w 405611"/>
              <a:gd name="connsiteY5" fmla="*/ 1569790 h 1651236"/>
              <a:gd name="connsiteX6" fmla="*/ 65837 w 405611"/>
              <a:gd name="connsiteY6" fmla="*/ 63837 h 1651236"/>
              <a:gd name="connsiteX7" fmla="*/ 405611 w 405611"/>
              <a:gd name="connsiteY7" fmla="*/ 69154 h 1651236"/>
              <a:gd name="connsiteX8" fmla="*/ 400294 w 405611"/>
              <a:gd name="connsiteY8" fmla="*/ 0 h 1651236"/>
              <a:gd name="connsiteX0" fmla="*/ 400294 w 405611"/>
              <a:gd name="connsiteY0" fmla="*/ 0 h 1644886"/>
              <a:gd name="connsiteX1" fmla="*/ 0 w 405611"/>
              <a:gd name="connsiteY1" fmla="*/ 5316 h 1644886"/>
              <a:gd name="connsiteX2" fmla="*/ 0 w 405611"/>
              <a:gd name="connsiteY2" fmla="*/ 1644886 h 1644886"/>
              <a:gd name="connsiteX3" fmla="*/ 387439 w 405611"/>
              <a:gd name="connsiteY3" fmla="*/ 1644886 h 1644886"/>
              <a:gd name="connsiteX4" fmla="*/ 387365 w 405611"/>
              <a:gd name="connsiteY4" fmla="*/ 1566616 h 1644886"/>
              <a:gd name="connsiteX5" fmla="*/ 71154 w 405611"/>
              <a:gd name="connsiteY5" fmla="*/ 1569790 h 1644886"/>
              <a:gd name="connsiteX6" fmla="*/ 65837 w 405611"/>
              <a:gd name="connsiteY6" fmla="*/ 63837 h 1644886"/>
              <a:gd name="connsiteX7" fmla="*/ 405611 w 405611"/>
              <a:gd name="connsiteY7" fmla="*/ 69154 h 1644886"/>
              <a:gd name="connsiteX8" fmla="*/ 400294 w 405611"/>
              <a:gd name="connsiteY8" fmla="*/ 0 h 1644886"/>
              <a:gd name="connsiteX0" fmla="*/ 400294 w 400294"/>
              <a:gd name="connsiteY0" fmla="*/ 0 h 1644886"/>
              <a:gd name="connsiteX1" fmla="*/ 0 w 400294"/>
              <a:gd name="connsiteY1" fmla="*/ 5316 h 1644886"/>
              <a:gd name="connsiteX2" fmla="*/ 0 w 400294"/>
              <a:gd name="connsiteY2" fmla="*/ 1644886 h 1644886"/>
              <a:gd name="connsiteX3" fmla="*/ 387439 w 400294"/>
              <a:gd name="connsiteY3" fmla="*/ 1644886 h 1644886"/>
              <a:gd name="connsiteX4" fmla="*/ 387365 w 400294"/>
              <a:gd name="connsiteY4" fmla="*/ 1566616 h 1644886"/>
              <a:gd name="connsiteX5" fmla="*/ 71154 w 400294"/>
              <a:gd name="connsiteY5" fmla="*/ 1569790 h 1644886"/>
              <a:gd name="connsiteX6" fmla="*/ 65837 w 400294"/>
              <a:gd name="connsiteY6" fmla="*/ 63837 h 1644886"/>
              <a:gd name="connsiteX7" fmla="*/ 386561 w 400294"/>
              <a:gd name="connsiteY7" fmla="*/ 78679 h 1644886"/>
              <a:gd name="connsiteX8" fmla="*/ 400294 w 400294"/>
              <a:gd name="connsiteY8" fmla="*/ 0 h 1644886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60662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414236"/>
              <a:gd name="connsiteY0" fmla="*/ 0 h 1641711"/>
              <a:gd name="connsiteX1" fmla="*/ 0 w 414236"/>
              <a:gd name="connsiteY1" fmla="*/ 2141 h 1641711"/>
              <a:gd name="connsiteX2" fmla="*/ 0 w 414236"/>
              <a:gd name="connsiteY2" fmla="*/ 1641711 h 1641711"/>
              <a:gd name="connsiteX3" fmla="*/ 387439 w 414236"/>
              <a:gd name="connsiteY3" fmla="*/ 1641711 h 1641711"/>
              <a:gd name="connsiteX4" fmla="*/ 379172 w 414236"/>
              <a:gd name="connsiteY4" fmla="*/ 1600163 h 1641711"/>
              <a:gd name="connsiteX5" fmla="*/ 387365 w 414236"/>
              <a:gd name="connsiteY5" fmla="*/ 1563441 h 1641711"/>
              <a:gd name="connsiteX6" fmla="*/ 71154 w 414236"/>
              <a:gd name="connsiteY6" fmla="*/ 1566615 h 1641711"/>
              <a:gd name="connsiteX7" fmla="*/ 65837 w 414236"/>
              <a:gd name="connsiteY7" fmla="*/ 76537 h 1641711"/>
              <a:gd name="connsiteX8" fmla="*/ 386561 w 414236"/>
              <a:gd name="connsiteY8" fmla="*/ 75504 h 1641711"/>
              <a:gd name="connsiteX9" fmla="*/ 384419 w 414236"/>
              <a:gd name="connsiteY9" fmla="*/ 0 h 1641711"/>
              <a:gd name="connsiteX0" fmla="*/ 384419 w 431494"/>
              <a:gd name="connsiteY0" fmla="*/ 0 h 1641711"/>
              <a:gd name="connsiteX1" fmla="*/ 0 w 431494"/>
              <a:gd name="connsiteY1" fmla="*/ 2141 h 1641711"/>
              <a:gd name="connsiteX2" fmla="*/ 0 w 431494"/>
              <a:gd name="connsiteY2" fmla="*/ 1641711 h 1641711"/>
              <a:gd name="connsiteX3" fmla="*/ 387439 w 431494"/>
              <a:gd name="connsiteY3" fmla="*/ 1641711 h 1641711"/>
              <a:gd name="connsiteX4" fmla="*/ 387365 w 431494"/>
              <a:gd name="connsiteY4" fmla="*/ 1563441 h 1641711"/>
              <a:gd name="connsiteX5" fmla="*/ 71154 w 431494"/>
              <a:gd name="connsiteY5" fmla="*/ 1566615 h 1641711"/>
              <a:gd name="connsiteX6" fmla="*/ 65837 w 431494"/>
              <a:gd name="connsiteY6" fmla="*/ 76537 h 1641711"/>
              <a:gd name="connsiteX7" fmla="*/ 386561 w 431494"/>
              <a:gd name="connsiteY7" fmla="*/ 75504 h 1641711"/>
              <a:gd name="connsiteX8" fmla="*/ 384419 w 431494"/>
              <a:gd name="connsiteY8" fmla="*/ 0 h 1641711"/>
              <a:gd name="connsiteX0" fmla="*/ 384419 w 409039"/>
              <a:gd name="connsiteY0" fmla="*/ 0 h 1642067"/>
              <a:gd name="connsiteX1" fmla="*/ 0 w 409039"/>
              <a:gd name="connsiteY1" fmla="*/ 2141 h 1642067"/>
              <a:gd name="connsiteX2" fmla="*/ 0 w 409039"/>
              <a:gd name="connsiteY2" fmla="*/ 1641711 h 1642067"/>
              <a:gd name="connsiteX3" fmla="*/ 387439 w 409039"/>
              <a:gd name="connsiteY3" fmla="*/ 1641711 h 1642067"/>
              <a:gd name="connsiteX4" fmla="*/ 387365 w 409039"/>
              <a:gd name="connsiteY4" fmla="*/ 1563441 h 1642067"/>
              <a:gd name="connsiteX5" fmla="*/ 71154 w 409039"/>
              <a:gd name="connsiteY5" fmla="*/ 1566615 h 1642067"/>
              <a:gd name="connsiteX6" fmla="*/ 65837 w 409039"/>
              <a:gd name="connsiteY6" fmla="*/ 76537 h 1642067"/>
              <a:gd name="connsiteX7" fmla="*/ 386561 w 409039"/>
              <a:gd name="connsiteY7" fmla="*/ 75504 h 1642067"/>
              <a:gd name="connsiteX8" fmla="*/ 384419 w 409039"/>
              <a:gd name="connsiteY8" fmla="*/ 0 h 1642067"/>
              <a:gd name="connsiteX0" fmla="*/ 384419 w 410804"/>
              <a:gd name="connsiteY0" fmla="*/ 0 h 1641711"/>
              <a:gd name="connsiteX1" fmla="*/ 0 w 410804"/>
              <a:gd name="connsiteY1" fmla="*/ 2141 h 1641711"/>
              <a:gd name="connsiteX2" fmla="*/ 0 w 410804"/>
              <a:gd name="connsiteY2" fmla="*/ 1641711 h 1641711"/>
              <a:gd name="connsiteX3" fmla="*/ 387439 w 410804"/>
              <a:gd name="connsiteY3" fmla="*/ 1641711 h 1641711"/>
              <a:gd name="connsiteX4" fmla="*/ 387365 w 410804"/>
              <a:gd name="connsiteY4" fmla="*/ 1563441 h 1641711"/>
              <a:gd name="connsiteX5" fmla="*/ 71154 w 410804"/>
              <a:gd name="connsiteY5" fmla="*/ 1566615 h 1641711"/>
              <a:gd name="connsiteX6" fmla="*/ 65837 w 410804"/>
              <a:gd name="connsiteY6" fmla="*/ 76537 h 1641711"/>
              <a:gd name="connsiteX7" fmla="*/ 386561 w 410804"/>
              <a:gd name="connsiteY7" fmla="*/ 75504 h 1641711"/>
              <a:gd name="connsiteX8" fmla="*/ 384419 w 410804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  <a:gd name="connsiteX0" fmla="*/ 400294 w 400294"/>
              <a:gd name="connsiteY0" fmla="*/ 0 h 1644886"/>
              <a:gd name="connsiteX1" fmla="*/ 0 w 400294"/>
              <a:gd name="connsiteY1" fmla="*/ 5316 h 1644886"/>
              <a:gd name="connsiteX2" fmla="*/ 0 w 400294"/>
              <a:gd name="connsiteY2" fmla="*/ 1644886 h 1644886"/>
              <a:gd name="connsiteX3" fmla="*/ 387439 w 400294"/>
              <a:gd name="connsiteY3" fmla="*/ 1644886 h 1644886"/>
              <a:gd name="connsiteX4" fmla="*/ 387365 w 400294"/>
              <a:gd name="connsiteY4" fmla="*/ 1566616 h 1644886"/>
              <a:gd name="connsiteX5" fmla="*/ 71154 w 400294"/>
              <a:gd name="connsiteY5" fmla="*/ 1569790 h 1644886"/>
              <a:gd name="connsiteX6" fmla="*/ 65837 w 400294"/>
              <a:gd name="connsiteY6" fmla="*/ 79712 h 1644886"/>
              <a:gd name="connsiteX7" fmla="*/ 386561 w 400294"/>
              <a:gd name="connsiteY7" fmla="*/ 78679 h 1644886"/>
              <a:gd name="connsiteX8" fmla="*/ 400294 w 400294"/>
              <a:gd name="connsiteY8" fmla="*/ 0 h 1644886"/>
              <a:gd name="connsiteX0" fmla="*/ 37806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78069 w 387439"/>
              <a:gd name="connsiteY8" fmla="*/ 0 h 1641711"/>
              <a:gd name="connsiteX0" fmla="*/ 384419 w 387439"/>
              <a:gd name="connsiteY0" fmla="*/ 0 h 1641711"/>
              <a:gd name="connsiteX1" fmla="*/ 0 w 387439"/>
              <a:gd name="connsiteY1" fmla="*/ 2141 h 1641711"/>
              <a:gd name="connsiteX2" fmla="*/ 0 w 387439"/>
              <a:gd name="connsiteY2" fmla="*/ 1641711 h 1641711"/>
              <a:gd name="connsiteX3" fmla="*/ 387439 w 387439"/>
              <a:gd name="connsiteY3" fmla="*/ 1641711 h 1641711"/>
              <a:gd name="connsiteX4" fmla="*/ 387365 w 387439"/>
              <a:gd name="connsiteY4" fmla="*/ 1563441 h 1641711"/>
              <a:gd name="connsiteX5" fmla="*/ 71154 w 387439"/>
              <a:gd name="connsiteY5" fmla="*/ 1566615 h 1641711"/>
              <a:gd name="connsiteX6" fmla="*/ 65837 w 387439"/>
              <a:gd name="connsiteY6" fmla="*/ 76537 h 1641711"/>
              <a:gd name="connsiteX7" fmla="*/ 386561 w 387439"/>
              <a:gd name="connsiteY7" fmla="*/ 75504 h 1641711"/>
              <a:gd name="connsiteX8" fmla="*/ 384419 w 387439"/>
              <a:gd name="connsiteY8" fmla="*/ 0 h 1641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7439" h="1641711">
                <a:moveTo>
                  <a:pt x="384419" y="0"/>
                </a:moveTo>
                <a:lnTo>
                  <a:pt x="0" y="2141"/>
                </a:lnTo>
                <a:lnTo>
                  <a:pt x="0" y="1641711"/>
                </a:lnTo>
                <a:lnTo>
                  <a:pt x="387439" y="1641711"/>
                </a:lnTo>
                <a:cubicBezTo>
                  <a:pt x="387414" y="1615621"/>
                  <a:pt x="387390" y="1589531"/>
                  <a:pt x="387365" y="1563441"/>
                </a:cubicBezTo>
                <a:lnTo>
                  <a:pt x="71154" y="1566615"/>
                </a:lnTo>
                <a:cubicBezTo>
                  <a:pt x="68495" y="821576"/>
                  <a:pt x="68495" y="821576"/>
                  <a:pt x="65837" y="76537"/>
                </a:cubicBezTo>
                <a:lnTo>
                  <a:pt x="386561" y="75504"/>
                </a:lnTo>
                <a:lnTo>
                  <a:pt x="384419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3" name="TextBox 64">
            <a:extLst>
              <a:ext uri="{FF2B5EF4-FFF2-40B4-BE49-F238E27FC236}">
                <a16:creationId xmlns:a16="http://schemas.microsoft.com/office/drawing/2014/main" id="{82ECBBE0-F432-2C4E-B633-1A53ADB933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13677" y="15029511"/>
            <a:ext cx="2619375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r>
              <a:rPr lang="en-US" altLang="en-US" sz="1800">
                <a:solidFill>
                  <a:schemeClr val="bg1"/>
                </a:solidFill>
                <a:latin typeface="Arial" charset="0"/>
                <a:ea typeface="Arial" charset="0"/>
              </a:rPr>
              <a:t>Figure A: neque dignissim, and in aliquet nisl et umis.</a:t>
            </a:r>
          </a:p>
        </p:txBody>
      </p:sp>
      <p:sp>
        <p:nvSpPr>
          <p:cNvPr id="79" name="Rectangle 5">
            <a:extLst>
              <a:ext uri="{FF2B5EF4-FFF2-40B4-BE49-F238E27FC236}">
                <a16:creationId xmlns:a16="http://schemas.microsoft.com/office/drawing/2014/main" id="{3F66BEF7-85D8-3D49-BA9B-280860874D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938" y="1550522"/>
            <a:ext cx="41224200" cy="3154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243" tIns="45614" rIns="91243" bIns="45614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en-US" sz="8800">
                <a:solidFill>
                  <a:srgbClr val="FFFFFF"/>
                </a:solidFill>
                <a:latin typeface="+mn-lt"/>
                <a:ea typeface="Arial" charset="0"/>
              </a:rPr>
              <a:t>ADEMIC RESEARCH POSTER TEMPLATE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/>
            </a:pPr>
            <a:r>
              <a:rPr lang="en-US" altLang="en-US" sz="4400">
                <a:solidFill>
                  <a:srgbClr val="FFFFFF"/>
                </a:solidFill>
                <a:latin typeface="+mn-lt"/>
                <a:ea typeface="Arial" charset="0"/>
              </a:rPr>
              <a:t>Subtitle for Academic Research Poster (48x36 inches)</a:t>
            </a:r>
          </a:p>
          <a:p>
            <a:pPr>
              <a:spcBef>
                <a:spcPts val="1800"/>
              </a:spcBef>
              <a:defRPr/>
            </a:pPr>
            <a:r>
              <a:rPr lang="en-US" altLang="en-US" sz="3200">
                <a:solidFill>
                  <a:srgbClr val="FFFFFF"/>
                </a:solidFill>
                <a:latin typeface="+mn-lt"/>
                <a:ea typeface="Arial" charset="0"/>
              </a:rPr>
              <a:t>Your names and the names of the people who contributed to this presentation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B752E7F-F26A-524D-86FF-2C7543BAB300}"/>
              </a:ext>
            </a:extLst>
          </p:cNvPr>
          <p:cNvSpPr/>
          <p:nvPr/>
        </p:nvSpPr>
        <p:spPr>
          <a:xfrm>
            <a:off x="0" y="-64048"/>
            <a:ext cx="43891200" cy="569458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600"/>
              <a:t> </a:t>
            </a:r>
          </a:p>
          <a:p>
            <a:r>
              <a:rPr lang="en-US" sz="960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9600" noProof="1" smtClean="0">
                <a:solidFill>
                  <a:schemeClr val="accent1">
                    <a:lumMod val="75000"/>
                  </a:schemeClr>
                </a:solidFill>
              </a:rPr>
              <a:t>Prepoznavanje pesme na osnovu isečka u igri </a:t>
            </a:r>
            <a:r>
              <a:rPr lang="en-US" sz="9600" smtClean="0">
                <a:solidFill>
                  <a:schemeClr val="accent1">
                    <a:lumMod val="75000"/>
                  </a:schemeClr>
                </a:solidFill>
              </a:rPr>
              <a:t>SongPop2</a:t>
            </a:r>
          </a:p>
          <a:p>
            <a:r>
              <a:rPr lang="en-US" sz="9600" b="1" noProof="1" smtClean="0">
                <a:solidFill>
                  <a:srgbClr val="C00000"/>
                </a:solidFill>
              </a:rPr>
              <a:t> </a:t>
            </a:r>
            <a:r>
              <a:rPr lang="en-US" sz="6600" b="1" noProof="1" smtClean="0">
                <a:solidFill>
                  <a:schemeClr val="tx1"/>
                </a:solidFill>
              </a:rPr>
              <a:t>Nikola Papić SW4/2017, Dušan Stojančević SW11/2017, Vera Kovačević SW19/2017</a:t>
            </a:r>
          </a:p>
          <a:p>
            <a:r>
              <a:rPr lang="en-US" sz="4800" smtClean="0">
                <a:solidFill>
                  <a:schemeClr val="tx1"/>
                </a:solidFill>
              </a:rPr>
              <a:t>  </a:t>
            </a:r>
            <a:r>
              <a:rPr lang="en-US" sz="4800" noProof="1" smtClean="0">
                <a:solidFill>
                  <a:schemeClr val="tx1"/>
                </a:solidFill>
              </a:rPr>
              <a:t>Univerzitet u Novom Sadu, Fakultet tehničkih nauka, Novi Sad</a:t>
            </a:r>
            <a:endParaRPr lang="en-US" sz="9600" noProof="1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B18E63E-E43D-8A46-905F-1FB45072A033}"/>
              </a:ext>
            </a:extLst>
          </p:cNvPr>
          <p:cNvSpPr/>
          <p:nvPr/>
        </p:nvSpPr>
        <p:spPr>
          <a:xfrm>
            <a:off x="0" y="5596128"/>
            <a:ext cx="43891200" cy="37273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59C8B05-96EB-834F-B7E4-A6ABE183F7C8}"/>
              </a:ext>
            </a:extLst>
          </p:cNvPr>
          <p:cNvSpPr txBox="1"/>
          <p:nvPr/>
        </p:nvSpPr>
        <p:spPr>
          <a:xfrm>
            <a:off x="13563502" y="13396283"/>
            <a:ext cx="557573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000" i="1" smtClean="0"/>
              <a:t>Primer jedne partije u igri</a:t>
            </a:r>
            <a:endParaRPr lang="en-US" sz="4000" i="1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11487" y="639776"/>
            <a:ext cx="3946182" cy="43576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97970" y="7735629"/>
            <a:ext cx="9662659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Cilj aplikacije je </a:t>
            </a:r>
            <a:r>
              <a:rPr lang="en-US" sz="4400"/>
              <a:t>automatizovano prepoznavanje pesme u video igri </a:t>
            </a:r>
            <a:r>
              <a:rPr lang="en-US" sz="4400" i="1"/>
              <a:t>SongPop2</a:t>
            </a:r>
            <a:r>
              <a:rPr lang="en-US" sz="4400"/>
              <a:t>. Igra pušta isečak pesme 10 sekundi i za to vreme je potrebno odabrati jedan od 4 </a:t>
            </a:r>
            <a:r>
              <a:rPr lang="en-US" sz="4400">
                <a:latin typeface="+mj-lt"/>
              </a:rPr>
              <a:t>ponuđena</a:t>
            </a:r>
            <a:r>
              <a:rPr lang="en-US" sz="4400"/>
              <a:t> odgovora koji predstavljaju ili numeru ili izvođača. </a:t>
            </a:r>
            <a:r>
              <a:rPr lang="en-US" sz="4400" smtClean="0"/>
              <a:t>Aplikacija se sastoji iz tri dela: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400"/>
              <a:t>A</a:t>
            </a:r>
            <a:r>
              <a:rPr lang="en-US" sz="4400" smtClean="0"/>
              <a:t>utomatsko upravljanje aplikacijom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400" smtClean="0"/>
              <a:t>Prepoznavanje pesme 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400" smtClean="0"/>
              <a:t>Prepoznavanje ponuđenih odgovora</a:t>
            </a:r>
            <a:endParaRPr lang="en-US" sz="4400"/>
          </a:p>
        </p:txBody>
      </p:sp>
      <p:sp>
        <p:nvSpPr>
          <p:cNvPr id="37" name="TextBox 1">
            <a:extLst>
              <a:ext uri="{FF2B5EF4-FFF2-40B4-BE49-F238E27FC236}">
                <a16:creationId xmlns:a16="http://schemas.microsoft.com/office/drawing/2014/main" id="{8DC4A155-88C8-A545-8728-5094A7EAE9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415" y="15396067"/>
            <a:ext cx="9829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endParaRPr lang="en-US" altLang="en-US">
              <a:latin typeface="Arial" charset="0"/>
              <a:ea typeface="Arial" charset="0"/>
            </a:endParaRPr>
          </a:p>
        </p:txBody>
      </p:sp>
      <p:sp>
        <p:nvSpPr>
          <p:cNvPr id="38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1668" y="15558841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Skup podataka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8985" y="16593634"/>
            <a:ext cx="966265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Kao skup podataka korištena je jedna od </a:t>
            </a:r>
            <a:r>
              <a:rPr lang="en-US" sz="4400"/>
              <a:t>plejlista dostunih u </a:t>
            </a:r>
            <a:r>
              <a:rPr lang="en-US" sz="4400" smtClean="0"/>
              <a:t>igri</a:t>
            </a:r>
            <a:r>
              <a:rPr lang="en-US" sz="4400"/>
              <a:t> </a:t>
            </a:r>
            <a:r>
              <a:rPr lang="en-US" sz="4400" smtClean="0"/>
              <a:t>(</a:t>
            </a:r>
            <a:r>
              <a:rPr lang="en-US" sz="4400" i="1" smtClean="0"/>
              <a:t>Today’s Hits UK</a:t>
            </a:r>
            <a:r>
              <a:rPr lang="en-US" sz="4400" smtClean="0"/>
              <a:t>). Generisani su isečci za većinu  pesama (118). Za </a:t>
            </a:r>
            <a:r>
              <a:rPr lang="en-US" sz="4400"/>
              <a:t>prepoznavanje ponuđenih </a:t>
            </a:r>
            <a:r>
              <a:rPr lang="en-US" sz="4400" smtClean="0"/>
              <a:t>odgovora i automatsko upravljanje aplikacijom korištene su slike </a:t>
            </a:r>
            <a:r>
              <a:rPr lang="en-US" sz="4400"/>
              <a:t>ekrana </a:t>
            </a:r>
            <a:r>
              <a:rPr lang="en-US" sz="4400" smtClean="0"/>
              <a:t>igre.</a:t>
            </a:r>
            <a:endParaRPr lang="en-US" sz="4400"/>
          </a:p>
        </p:txBody>
      </p:sp>
      <p:sp>
        <p:nvSpPr>
          <p:cNvPr id="40" name="TextBox 1">
            <a:extLst>
              <a:ext uri="{FF2B5EF4-FFF2-40B4-BE49-F238E27FC236}">
                <a16:creationId xmlns:a16="http://schemas.microsoft.com/office/drawing/2014/main" id="{8DC4A155-88C8-A545-8728-5094A7EAE9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3676" y="21450121"/>
            <a:ext cx="9829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endParaRPr lang="en-US" altLang="en-US">
              <a:latin typeface="Arial" charset="0"/>
              <a:ea typeface="Arial" charset="0"/>
            </a:endParaRPr>
          </a:p>
        </p:txBody>
      </p:sp>
      <p:sp>
        <p:nvSpPr>
          <p:cNvPr id="41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9929" y="21725016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Automatsko upravljanje aplikacijom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07246" y="22759809"/>
            <a:ext cx="966265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Na ekranu igre prepoznaju se akcije na osnovu odgovarajućih sličica (npr. dugme za novu igru). Njihova lokacija na ekranu se detektuje metodom “</a:t>
            </a:r>
            <a:r>
              <a:rPr lang="en-US" sz="4400" i="1" smtClean="0"/>
              <a:t>matchTemplate</a:t>
            </a:r>
            <a:r>
              <a:rPr lang="en-US" sz="4400" smtClean="0"/>
              <a:t>” biblioteke “</a:t>
            </a:r>
            <a:r>
              <a:rPr lang="en-US" sz="4400" i="1" smtClean="0"/>
              <a:t>opencv</a:t>
            </a:r>
            <a:r>
              <a:rPr lang="en-US" sz="4400" smtClean="0"/>
              <a:t>” koja koristi konvoluciju, a samo upravljanje odrađeno je pomoću biblioteke “</a:t>
            </a:r>
            <a:r>
              <a:rPr lang="en-US" sz="4400" i="1" smtClean="0"/>
              <a:t>pyautogui</a:t>
            </a:r>
            <a:r>
              <a:rPr lang="en-US" sz="4400" smtClean="0"/>
              <a:t>”.</a:t>
            </a:r>
            <a:endParaRPr lang="en-US" sz="440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11230" t="3036" r="8770" b="4689"/>
          <a:stretch/>
        </p:blipFill>
        <p:spPr>
          <a:xfrm>
            <a:off x="11658599" y="6967706"/>
            <a:ext cx="9648133" cy="6259800"/>
          </a:xfrm>
          <a:prstGeom prst="rect">
            <a:avLst/>
          </a:prstGeom>
        </p:spPr>
      </p:pic>
      <p:sp>
        <p:nvSpPr>
          <p:cNvPr id="47" name="TextBox 1">
            <a:extLst>
              <a:ext uri="{FF2B5EF4-FFF2-40B4-BE49-F238E27FC236}">
                <a16:creationId xmlns:a16="http://schemas.microsoft.com/office/drawing/2014/main" id="{8DC4A155-88C8-A545-8728-5094A7EAE9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69570" y="14491348"/>
            <a:ext cx="9829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endParaRPr lang="en-US" altLang="en-US">
              <a:latin typeface="Arial" charset="0"/>
              <a:ea typeface="Arial" charset="0"/>
            </a:endParaRPr>
          </a:p>
        </p:txBody>
      </p:sp>
      <p:sp>
        <p:nvSpPr>
          <p:cNvPr id="48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65823" y="14766243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Prepoznavanje pesme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653140" y="15801036"/>
            <a:ext cx="9662659" cy="95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Za </a:t>
            </a:r>
            <a:r>
              <a:rPr lang="en-US" sz="4400"/>
              <a:t>prepoznavanje pesme </a:t>
            </a:r>
            <a:r>
              <a:rPr lang="en-US" sz="4400" smtClean="0"/>
              <a:t>korišten je</a:t>
            </a:r>
            <a:r>
              <a:rPr lang="en-US" sz="4400"/>
              <a:t> </a:t>
            </a:r>
            <a:r>
              <a:rPr lang="en-US" sz="4400" i="1"/>
              <a:t>“An Industrial-Strength Audio Search Algorithm”</a:t>
            </a:r>
            <a:r>
              <a:rPr lang="en-US" sz="4400"/>
              <a:t>, koji je osnova za aplikaciju Shazam</a:t>
            </a:r>
            <a:r>
              <a:rPr lang="en-US" sz="4400" smtClean="0"/>
              <a:t>. Algoritam pravi “otisak” (</a:t>
            </a:r>
            <a:r>
              <a:rPr lang="en-US" sz="4400" i="1" smtClean="0"/>
              <a:t>fingerprint</a:t>
            </a:r>
            <a:r>
              <a:rPr lang="en-US" sz="4400" smtClean="0"/>
              <a:t>) audio fajla na osnovu spektrograma gde y-osa predstavlja frekvenciju, x-osa predstavlja vreme a boja predstavlja amplitudu (metoda </a:t>
            </a:r>
            <a:r>
              <a:rPr lang="en-US" sz="4400" i="1" smtClean="0"/>
              <a:t>specgram</a:t>
            </a:r>
            <a:r>
              <a:rPr lang="en-US" sz="4400" smtClean="0"/>
              <a:t> biblioteke </a:t>
            </a:r>
            <a:r>
              <a:rPr lang="en-US" sz="4400" i="1" smtClean="0"/>
              <a:t>matplotlib.mlab</a:t>
            </a:r>
            <a:r>
              <a:rPr lang="en-US" sz="4400" smtClean="0"/>
              <a:t>). Izdvajaju se najveće amplitude (</a:t>
            </a:r>
            <a:r>
              <a:rPr lang="en-US" sz="4400" i="1" smtClean="0"/>
              <a:t>peaks</a:t>
            </a:r>
            <a:r>
              <a:rPr lang="en-US" sz="4400" smtClean="0"/>
              <a:t>) za svaki frekvencijski interval. Na osnovu njih se formiraju heševi koji se čuvaju u bazi (</a:t>
            </a:r>
            <a:r>
              <a:rPr lang="en-US" sz="4400" i="1" smtClean="0"/>
              <a:t>sqlite3</a:t>
            </a:r>
            <a:r>
              <a:rPr lang="en-US" sz="4400" smtClean="0"/>
              <a:t>), zajedno sa identifikatorom pesme (naziv pesme i ime izvođača). 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0629" y="25612542"/>
            <a:ext cx="9976479" cy="557214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21905" t="29843" r="39762" b="15714"/>
          <a:stretch/>
        </p:blipFill>
        <p:spPr>
          <a:xfrm>
            <a:off x="22306289" y="12764034"/>
            <a:ext cx="9775862" cy="780985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2264789" y="6932975"/>
            <a:ext cx="966265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Kada program detektuje početak isečka pesme u igri, taj isečak se snima i na osnovu njega se pravi novi fingerprint. Dobijeni fingerprint se poredi sa podacima u bazi, i kao rezultat se uzima pesma čiji fingerprint iz baze se najviše podudara sa novim fingerprintom.</a:t>
            </a:r>
            <a:endParaRPr lang="en-US" sz="4400"/>
          </a:p>
        </p:txBody>
      </p:sp>
      <p:sp>
        <p:nvSpPr>
          <p:cNvPr id="18" name="Rectangle 17"/>
          <p:cNvSpPr/>
          <p:nvPr/>
        </p:nvSpPr>
        <p:spPr>
          <a:xfrm>
            <a:off x="14177034" y="31184689"/>
            <a:ext cx="461126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4000" i="1" smtClean="0"/>
              <a:t>Primer spektrograma</a:t>
            </a:r>
            <a:endParaRPr lang="en-US" sz="4000" i="1"/>
          </a:p>
        </p:txBody>
      </p:sp>
      <p:sp>
        <p:nvSpPr>
          <p:cNvPr id="59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09380" y="22342314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Prepoznavanje ponuđenih odgovora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2180708" y="23349407"/>
            <a:ext cx="9662659" cy="889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Nakon što algoritam prepozna pesmu iz baze, potrebno je odrediti koje dugme na ekranu predtsavlja tu pesmu. Za čitanje teksta sa ekrana korištena je metoda  OCR (</a:t>
            </a:r>
            <a:r>
              <a:rPr lang="en-US" sz="4400" i="1" smtClean="0"/>
              <a:t>Optical Character Recognition</a:t>
            </a:r>
            <a:r>
              <a:rPr lang="en-US" sz="4400" smtClean="0"/>
              <a:t>).  </a:t>
            </a:r>
          </a:p>
          <a:p>
            <a:pPr algn="just"/>
            <a:r>
              <a:rPr lang="en-US" sz="4400" smtClean="0"/>
              <a:t>Neuronska mreža je trenirana na osnovu znakova koji se pojavljuju u igri (slova, brojevi, neki specijalni znakovi). </a:t>
            </a:r>
          </a:p>
          <a:p>
            <a:pPr algn="just"/>
            <a:r>
              <a:rPr lang="en-US" sz="4400" smtClean="0"/>
              <a:t>Prilikom prepoznavanja, za svaki od 4 ponuđena odgovora izdvajaju se konture i šalju se neuronskoj mreži koja prepoznaje karaktere. Od 4 dobijena rezultata bira se tekst koji je najsličniji nazivu ili imenu</a:t>
            </a:r>
          </a:p>
        </p:txBody>
      </p:sp>
      <p:sp>
        <p:nvSpPr>
          <p:cNvPr id="61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92451" y="13603117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Rezultati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33106979" y="14568820"/>
            <a:ext cx="966265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Na osnovu 20 odigranih partija sa po 5 pogađanja, program je prosečno prepoznavao 4 od 5 pesama, pa možemo zaključiti da je  preciznost (</a:t>
            </a:r>
            <a:r>
              <a:rPr lang="en-US" sz="4400" i="1" smtClean="0"/>
              <a:t>accuracy</a:t>
            </a:r>
            <a:r>
              <a:rPr lang="en-US" sz="4400" smtClean="0"/>
              <a:t>) 80%. 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85785" y="9222388"/>
            <a:ext cx="8993577" cy="83109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85785" y="10053478"/>
            <a:ext cx="8993577" cy="64440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285785" y="10851262"/>
            <a:ext cx="8966269" cy="893318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159C8B05-96EB-834F-B7E4-A6ABE183F7C8}"/>
              </a:ext>
            </a:extLst>
          </p:cNvPr>
          <p:cNvSpPr txBox="1"/>
          <p:nvPr/>
        </p:nvSpPr>
        <p:spPr>
          <a:xfrm>
            <a:off x="33447389" y="11840253"/>
            <a:ext cx="90344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000" i="1" smtClean="0"/>
              <a:t>Karakteri za treniranje neuronske mreže</a:t>
            </a:r>
            <a:endParaRPr lang="en-US" sz="4000" i="1"/>
          </a:p>
        </p:txBody>
      </p:sp>
      <p:sp>
        <p:nvSpPr>
          <p:cNvPr id="70" name="TextBox 69"/>
          <p:cNvSpPr txBox="1"/>
          <p:nvPr/>
        </p:nvSpPr>
        <p:spPr>
          <a:xfrm>
            <a:off x="33092451" y="6830269"/>
            <a:ext cx="966265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izvođača prepoznate pesme, program odabira taj odgovor i nastavlja dalje sa igrom.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021815" y="20787157"/>
            <a:ext cx="614860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4000" i="1" smtClean="0"/>
              <a:t>Postupak popunjavanja baze</a:t>
            </a:r>
            <a:endParaRPr lang="en-US" sz="4000" i="1"/>
          </a:p>
        </p:txBody>
      </p:sp>
      <p:sp>
        <p:nvSpPr>
          <p:cNvPr id="72" name="TextBox 3">
            <a:extLst>
              <a:ext uri="{FF2B5EF4-FFF2-40B4-BE49-F238E27FC236}">
                <a16:creationId xmlns:a16="http://schemas.microsoft.com/office/drawing/2014/main" id="{9862ABFD-A3E9-9242-A6E9-BC2B7E4A2E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06979" y="19134304"/>
            <a:ext cx="9829800" cy="697242"/>
          </a:xfrm>
          <a:prstGeom prst="rect">
            <a:avLst/>
          </a:prstGeom>
          <a:solidFill>
            <a:schemeClr val="bg1">
              <a:alpha val="63000"/>
            </a:schemeClr>
          </a:solidFill>
          <a:ln>
            <a:noFill/>
          </a:ln>
          <a:effectLst/>
        </p:spPr>
        <p:txBody>
          <a:bodyPr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4600"/>
              </a:lnSpc>
              <a:spcAft>
                <a:spcPts val="1200"/>
              </a:spcAft>
            </a:pPr>
            <a:r>
              <a:rPr lang="en-US" sz="4800" b="1" noProof="1" smtClean="0">
                <a:solidFill>
                  <a:schemeClr val="accent1">
                    <a:lumMod val="75000"/>
                  </a:schemeClr>
                </a:solidFill>
                <a:latin typeface="+mj-lt"/>
              </a:rPr>
              <a:t>Zaključak</a:t>
            </a:r>
            <a:endParaRPr lang="en-US" sz="4800" b="1" noProof="1">
              <a:solidFill>
                <a:schemeClr val="accent1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3121507" y="20100007"/>
            <a:ext cx="9662659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smtClean="0"/>
              <a:t>Program radi prilično dobro za većinu slučajeva, odnosno za slučajeve kada tražena pesma postoji u bazi. Mogao bi se unaprediti proširivanjem baze novim pesmama koje se pojavljuju u igri (npr. ukoliko ne prepozna pesmu, da se nova pesma doda u bazu). Takođe, tačnost bi se mogla povećati dužim snimanjem, ali bi se program tada igrao sporije i dobijao bi manje poena u igri. </a:t>
            </a:r>
          </a:p>
        </p:txBody>
      </p:sp>
    </p:spTree>
    <p:extLst>
      <p:ext uri="{BB962C8B-B14F-4D97-AF65-F5344CB8AC3E}">
        <p14:creationId xmlns:p14="http://schemas.microsoft.com/office/powerpoint/2010/main" val="2393346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340</TotalTime>
  <Words>452</Words>
  <Application>Microsoft Office PowerPoint</Application>
  <PresentationFormat>Custom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Lisa Davis</dc:creator>
  <cp:lastModifiedBy>Korisnik</cp:lastModifiedBy>
  <cp:revision>80</cp:revision>
  <dcterms:created xsi:type="dcterms:W3CDTF">2019-03-25T17:38:57Z</dcterms:created>
  <dcterms:modified xsi:type="dcterms:W3CDTF">2021-02-14T15:04:57Z</dcterms:modified>
</cp:coreProperties>
</file>